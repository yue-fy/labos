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这是一份系统能力与应用场景说明。我们用用户提供的两台 PC 和具体设备，说明 LabOS 如何组织非线性 Hall 与 BVPE 实验。图示展示的是系统架构、信号链与操作逻辑，不是材料测量结果报告。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非线性 Hall 与 BVPE 共享样品和环境条件，但激励、参考频率和读出链不同。LabOS 的价值是把这些条件与原始数据绑定起来，使暗态、光照态和回程对照能够比较。这里不预设某个具体材料的微观机制。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从上到下分成操作者、科学规划、确定性执行以及本地设备。中央 Agent 利用资料和历史数据形成阶段计划；确定性执行层负责身份、资源归属、参数范围和状态检查。PC A 和 PC B 通过出站网络访问中央；PC 本地持有厂商连接。数据和异常沿反馈路径返回中央，下一步建议仍可以由操作者审核。</a:t>
            </a:r>
          </a:p>
          <a:p>
            <a:r>
              <a:t>来源：[1] QUANTA, arXiv:2610.38850, Fig. 1；本图为 LabOS 场景原创重绘。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这一页完整对应用户给出的设备清单。PC A 负责 SuperK 与红外光谱，PC B 负责环境、电输运、栅压和调制光学。注意输运一共有两台锁相，另有一台锁相用于 chopper 参考的光生信号，总共三台。PD 测光功率，CLD1000 调激光驱动电流，功率由标定与 PD 读回关联。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这张图说明两台 PC 的分工并不限制物理光路。PC A 的 SuperK 可以把光送到 PC B 管理的 attoDRY 样品，红外光谱仪可对参考分支进行诊断。730 nm 是另一条可配置光源。CLD1000 是电流控制，不是串在光路里的光学元件。chopper 参考与电激励参考是物理线。共同电极在不同测量阶段按接线配置使用，图示没有假定安装自动切换矩阵。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网络层传递的是结构化命令和可追溯的数据，不是高频电信号。中央运行器持久化命令、维护设备资源独占和实验阶段。Agent 本地调用已封装的驱动，保存原始数据和执行日志，再校验上传。心跳、会话和命令 ID 支持断线后的状态核对；已经发出但结果不明的物理动作不能盲目重放。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中央先向 PC A 设置光学条件，同时让 PC B 设置温度、磁场和栅压；两端提交新鲜读回，进入该实验点的准备屏障。完成预先选择的稳定性判断后，中央发出采集阶段。各设备保留采集起止时间，因此跨 PC 数据是有共同身份和时间窗口的对应数据，并不默认硬件同时采样。电输运锁相共享物理 fI 参考，BVPE 锁相使用 chopper 的 fchop 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首次接入时登记 PC 与设备归属、仪器连接、驱动及可用能力，之后复用。每次实验填写样品、测量接线、研究问题、扫描变量与允许范围。中央将其组织为多阶段计划，准备记录包含光学标定、激励标定、功率、栅漏电流、锁相参考和收尾策略。物理操作由操作者完成和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用户确认交流激励由锁相输出和串联电阻提供。图中左侧的正弦输出与右侧的 Vxx 读出属于同一台主锁相的两个功能，不是额外增加一台输运锁相。主锁相使用内部参考，同时把 fI 的物理参考送给测 Vxy 的锁相，并在后者配置二次谐波。实际样品电流通过串联电阻压降等标定方法获得。Vxx/Vxy 是空间电压通道，各锁相还返回 X/Y 相位分量。其他谐波可按阶段切换，或组合多解调仪器。</a:t>
            </a:r>
          </a:p>
          <a:p>
            <a:r>
              <a:t>来源：[2] Sodemann &amp; Fu, PRL 115, 216806 (2015)；[3] Ma et al., Nature 565, 337–342 (2019)。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先做暗态基线和低激励检查，再进行幅值扫描与返回参考点。每个环境点可配置重复、反向磁场和频率对照。Vxy 的二次激励依赖并不能自动证明 Berry 曲率偶极机制；热电二次响应、接触非线性和纵向串扰需要相应控制。磁场奇偶分析也应按候选模型区分，不能套用线性 Hall 的单一规则。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激光经过 chopper 与偏振模块照射样品。chopper 的物理参考送到第三台锁相，用来在 fchop 读取光生响应；光电流可通过仪器电流输入或前置电流放大器读出，光生电压则使用电压输入。PD 通过响应度与光路传输标定关联样品面功率。光学二阶响应的光频与 chopper 的低频包络是不同概念，因此 BVPE 不等于必须在 2fchop 读数。源漏零外加偏压可以与有限栅压同时存在。</a:t>
            </a:r>
          </a:p>
          <a:p>
            <a:r>
              <a:t>来源：[4] Osterhoudt et al., Nature Materials 18, 471–475 (2019)；测量链为 LabOS 场景示意。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先采集暗态与参考光谱，再建立光功率标定。730 nm 支持固定波长下的功率和偏振扫描；SuperK 根据所配选波能力进行波段测量，也可把完整入射谱作为宽谱条件记录。偏振片测线偏振角依赖，四分之一波片配合已知线偏振输入和延迟量标定生成不同偏振态。红外光谱仪按其响应波段参与参考，不把它默认当成 730 nm 功率计。光生响应归一化应说明功率、放大器增益以及调制幅度的定义。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系统能力展示的核心案例。研究者问同一样品在温度、磁场和栅压改变时，二阶横向电响应与光生响应如何变化。中央组织暗态输运、光学参考、光生测量、回程对照四类阶段。换光源或重新接线等物理操作进入操作者步骤。可以比较共同坐标下的信号趋势，但共享坐标不意味着两个信号已经有相同微观起源。阶段记录中的 campaign 和 point 是这里展示的共同身份模型。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记录包括计划、配置指纹、共同实验身份以及每次采集的起止时间。输运锁相保存 X/Y 与谐波，光生测量保存 chopper 参考和前放增益，PD 与光谱记录关联光学条件。过载、失锁或不满足预定稳定标准的数据进入拒绝或隔离状态，原始值仍保留。故障后的输出处理依照设备和实验策略：关掉光或激励不等于磁场、温度、栅压全部瞬间归零。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研究者可以用自然语言描述任务，然后在中央核对形成的计划。示例中的温度、磁场、栅压和角度不指定具体数值，因为这些都属于本次实验配置。每台 Windows PC 运行本地 Agent；研究者不必轮流远程登录各台电脑去运行脚本。物理接线、样品更换和关键阶段批准仍有明确的人机交接。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原有设备测试代码非常有价值，可以保留厂商环境和已验证的调用。我们先识别连接、状态、设置、采集和结束步骤，再封装成有限操作。对外能力只暴露参数和结构化结果，连接和设备细节留在本地。已有脚本还可作为可检索资料，为中央规划提供依据；作为资料导入与作为驱动执行是两条不同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LabOS 的扩展不要求所有仪器搬到一台电脑。新增实验台向中央登记资源、能力和控制归属，就可以被纳入后续计划。共同资源仍要独占；共享的光源、样品与物理路径用配置和阶段依赖表达。网络层的统一不会替代每种仪器所需的物理参考和触发。多实验室共享时还可以按网络部署和授权边界配置中央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最后总结系统价值。它能够组织电激励和光激励两条链，组合跨 PC 的光源、低温环境和读出资源，给每个测量点建立条件与来源清楚的记录，并把数据质量和下一步建议接到实验流程里。这里展示的是装置场景和系统能力，而不是对具体样品已有机制结论的宣告。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资料来源分为三类：用户确认的装置清单与激励方式，LabOS 当前仓库中的系统设计与实现，以及公开科学论文。QUANTA 主要用于参考分层架构表达；非线性 Hall 与 BVPE 文献用于说明激励、谐波和对照逻辑。演示不使用文献中的材料曲线冒充本系统实测结果。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610.38850" TargetMode="External"/><Relationship Id="rId3" Type="http://schemas.openxmlformats.org/officeDocument/2006/relationships/hyperlink" Target="https://doi.org/10.1103/PhysRevLett.115.216806" TargetMode="External"/><Relationship Id="rId4" Type="http://schemas.openxmlformats.org/officeDocument/2006/relationships/hyperlink" Target="https://doi.org/10.1038/s41586-018-0807-6" TargetMode="External"/><Relationship Id="rId5" Type="http://schemas.openxmlformats.org/officeDocument/2006/relationships/hyperlink" Target="https://doi.org/10.1038/s41563-019-0297-4" TargetMode="Externa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0075" y="419100"/>
            <a:ext cx="2095500" cy="295275"/>
          </a:xfrm>
          <a:prstGeom prst="roundRect">
            <a:avLst>
              <a:gd name="adj" fmla="val 45161"/>
            </a:avLst>
          </a:prstGeom>
          <a:solidFill>
            <a:srgbClr val="263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7583" y="466725"/>
            <a:ext cx="1756683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BA5FF"/>
                </a:solidFill>
                <a:latin typeface="Arial"/>
                <a:ea typeface="Microsoft YaHei"/>
              </a:rPr>
              <a:t>MULTI-PC</a:t>
            </a:r>
            <a:r>
              <a:rPr sz="1050" b="1">
                <a:solidFill>
                  <a:srgbClr val="BBA5FF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BBA5FF"/>
                </a:solidFill>
                <a:latin typeface="Arial"/>
                <a:ea typeface="Microsoft YaHei"/>
              </a:rPr>
              <a:t>LAB</a:t>
            </a:r>
            <a:r>
              <a:rPr sz="1050" b="1">
                <a:solidFill>
                  <a:srgbClr val="BBA5FF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BBA5FF"/>
                </a:solidFill>
                <a:latin typeface="Arial"/>
                <a:ea typeface="Microsoft YaHei"/>
              </a:rPr>
              <a:t>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1190625"/>
            <a:ext cx="2749441" cy="10401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FFFFFF"/>
                </a:solidFill>
                <a:latin typeface="Arial"/>
                <a:ea typeface="Microsoft YaHei"/>
              </a:rPr>
              <a:t>LabOS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" y="2343150"/>
            <a:ext cx="4937075" cy="6400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跨 </a:t>
            </a: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PC</a:t>
            </a: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·</a:t>
            </a: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 跨仪器协同实验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" y="3486150"/>
            <a:ext cx="6304210" cy="3467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BDCEE4"/>
                </a:solidFill>
                <a:latin typeface="Microsoft YaHei"/>
                <a:ea typeface="Microsoft YaHei"/>
              </a:rPr>
              <a:t>非线性 </a:t>
            </a:r>
            <a:r>
              <a:rPr sz="1950" b="0">
                <a:solidFill>
                  <a:srgbClr val="BDCEE4"/>
                </a:solidFill>
                <a:latin typeface="Arial"/>
                <a:ea typeface="Microsoft YaHei"/>
              </a:rPr>
              <a:t>Hall</a:t>
            </a:r>
            <a:r>
              <a:rPr sz="1950" b="0">
                <a:solidFill>
                  <a:srgbClr val="BDCEE4"/>
                </a:solidFill>
                <a:latin typeface="Microsoft YaHei"/>
                <a:ea typeface="Microsoft YaHei"/>
              </a:rPr>
              <a:t> </a:t>
            </a:r>
            <a:r>
              <a:rPr sz="1950" b="0">
                <a:solidFill>
                  <a:srgbClr val="BDCEE4"/>
                </a:solidFill>
                <a:latin typeface="Arial"/>
                <a:ea typeface="Microsoft YaHei"/>
              </a:rPr>
              <a:t>×</a:t>
            </a:r>
            <a:r>
              <a:rPr sz="1950" b="0">
                <a:solidFill>
                  <a:srgbClr val="BDCEE4"/>
                </a:solidFill>
                <a:latin typeface="Microsoft YaHei"/>
                <a:ea typeface="Microsoft YaHei"/>
              </a:rPr>
              <a:t> </a:t>
            </a:r>
            <a:r>
              <a:rPr sz="1950" b="0">
                <a:solidFill>
                  <a:srgbClr val="BDCEE4"/>
                </a:solidFill>
                <a:latin typeface="Arial"/>
                <a:ea typeface="Microsoft YaHei"/>
              </a:rPr>
              <a:t>BVPE</a:t>
            </a:r>
            <a:r>
              <a:rPr sz="1950" b="0">
                <a:solidFill>
                  <a:srgbClr val="BDCEE4"/>
                </a:solidFill>
                <a:latin typeface="Microsoft YaHei"/>
                <a:ea typeface="Microsoft YaHei"/>
              </a:rPr>
              <a:t>：一套装置、两条测量链、统一证据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52850" y="5238750"/>
            <a:ext cx="1581150" cy="0"/>
          </a:xfrm>
          <a:prstGeom prst="line">
            <a:avLst/>
          </a:prstGeom>
          <a:ln w="28575">
            <a:solidFill>
              <a:srgbClr val="5FC9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5245100" y="51943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7" y="3"/>
                </a:moveTo>
                <a:lnTo>
                  <a:pt x="0" y="0"/>
                </a:lnTo>
                <a:lnTo>
                  <a:pt x="0" y="7"/>
                </a:lnTo>
                <a:close/>
              </a:path>
            </a:pathLst>
          </a:custGeom>
          <a:solidFill>
            <a:srgbClr val="5FC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858000" y="5238750"/>
            <a:ext cx="1581150" cy="0"/>
          </a:xfrm>
          <a:prstGeom prst="line">
            <a:avLst/>
          </a:prstGeom>
          <a:ln w="28575">
            <a:solidFill>
              <a:srgbClr val="5FC9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form 10"/>
          <p:cNvSpPr/>
          <p:nvPr/>
        </p:nvSpPr>
        <p:spPr>
          <a:xfrm>
            <a:off x="8356600" y="51943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6" y="3"/>
                </a:moveTo>
                <a:lnTo>
                  <a:pt x="0" y="0"/>
                </a:lnTo>
                <a:lnTo>
                  <a:pt x="0" y="7"/>
                </a:lnTo>
                <a:close/>
              </a:path>
            </a:pathLst>
          </a:custGeom>
          <a:solidFill>
            <a:srgbClr val="5FC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50" y="4714875"/>
            <a:ext cx="3124200" cy="1066800"/>
          </a:xfrm>
          <a:prstGeom prst="roundRect">
            <a:avLst>
              <a:gd name="adj" fmla="val 8928"/>
            </a:avLst>
          </a:prstGeom>
          <a:solidFill>
            <a:srgbClr val="E9F6F7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9971" y="4838700"/>
            <a:ext cx="1997757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800" b="1">
                <a:solidFill>
                  <a:srgbClr val="168D9D"/>
                </a:solidFill>
                <a:latin typeface="Arial"/>
                <a:ea typeface="Microsoft YaHei"/>
              </a:rPr>
              <a:t>A</a:t>
            </a: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800" b="1">
                <a:solidFill>
                  <a:srgbClr val="168D9D"/>
                </a:solidFill>
                <a:latin typeface="Arial"/>
                <a:ea typeface="Microsoft YaHei"/>
              </a:rPr>
              <a:t>·</a:t>
            </a: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 光源与光谱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2752" y="5175884"/>
            <a:ext cx="1972195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SuperK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IR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spectrometer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000" y="4714875"/>
            <a:ext cx="1524000" cy="1066800"/>
          </a:xfrm>
          <a:prstGeom prst="roundRect">
            <a:avLst>
              <a:gd name="adj" fmla="val 8928"/>
            </a:avLst>
          </a:prstGeom>
          <a:solidFill>
            <a:srgbClr val="F1ECFC"/>
          </a:solidFill>
          <a:ln w="13334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3966" y="4838700"/>
            <a:ext cx="1200266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7653CF"/>
                </a:solidFill>
                <a:latin typeface="Microsoft YaHei"/>
                <a:ea typeface="Microsoft YaHei"/>
              </a:rPr>
              <a:t>中央 </a:t>
            </a:r>
            <a:r>
              <a:rPr sz="1575" b="1">
                <a:solidFill>
                  <a:srgbClr val="7653CF"/>
                </a:solidFill>
                <a:latin typeface="Arial"/>
                <a:ea typeface="Microsoft YaHei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0584" y="5137308"/>
            <a:ext cx="124703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计划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·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协调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·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复盘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39150" y="4714875"/>
            <a:ext cx="3124200" cy="1066800"/>
          </a:xfrm>
          <a:prstGeom prst="roundRect">
            <a:avLst>
              <a:gd name="adj" fmla="val 8928"/>
            </a:avLst>
          </a:prstGeom>
          <a:solidFill>
            <a:srgbClr val="E9F6F7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1810" y="4838700"/>
            <a:ext cx="1995078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800" b="1">
                <a:solidFill>
                  <a:srgbClr val="168D9D"/>
                </a:solidFill>
                <a:latin typeface="Arial"/>
                <a:ea typeface="Microsoft YaHei"/>
              </a:rPr>
              <a:t>B</a:t>
            </a: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800" b="1">
                <a:solidFill>
                  <a:srgbClr val="168D9D"/>
                </a:solidFill>
                <a:latin typeface="Arial"/>
                <a:ea typeface="Microsoft YaHei"/>
              </a:rPr>
              <a:t>·</a:t>
            </a: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 环境与电学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3406" y="5175884"/>
            <a:ext cx="2471886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attoDRY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lock-ins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gate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optics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175" y="6105525"/>
            <a:ext cx="4574902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DCEE4"/>
                </a:solidFill>
                <a:latin typeface="Arial"/>
                <a:ea typeface="Microsoft YaHei"/>
              </a:rPr>
              <a:t>2026.10</a:t>
            </a:r>
            <a:r>
              <a:rPr sz="1200" b="0">
                <a:solidFill>
                  <a:srgbClr val="BDCEE4"/>
                </a:solidFill>
                <a:latin typeface="Microsoft YaHei"/>
                <a:ea typeface="Microsoft YaHei"/>
              </a:rPr>
              <a:t>  </a:t>
            </a:r>
            <a:r>
              <a:rPr sz="1200" b="0">
                <a:solidFill>
                  <a:srgbClr val="BDCEE4"/>
                </a:solidFill>
                <a:latin typeface="Arial"/>
                <a:ea typeface="Microsoft YaHei"/>
              </a:rPr>
              <a:t>|</a:t>
            </a:r>
            <a:r>
              <a:rPr sz="1200" b="0">
                <a:solidFill>
                  <a:srgbClr val="BDCEE4"/>
                </a:solidFill>
                <a:latin typeface="Microsoft YaHei"/>
                <a:ea typeface="Microsoft YaHei"/>
              </a:rPr>
              <a:t>  围绕科研问题组织设备，而不是围绕单台电脑组织实验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31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3875" y="6619875"/>
            <a:ext cx="2605738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B1C2DA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B1C2DA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B1C2DA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B1C2DA"/>
                </a:solidFill>
                <a:latin typeface="Microsoft YaHei"/>
                <a:ea typeface="Microsoft YaHei"/>
              </a:rPr>
              <a:t>  非线性 </a:t>
            </a:r>
            <a:r>
              <a:rPr sz="825" b="0">
                <a:solidFill>
                  <a:srgbClr val="B1C2DA"/>
                </a:solidFill>
                <a:latin typeface="Arial"/>
                <a:ea typeface="Microsoft YaHei"/>
              </a:rPr>
              <a:t>Hall</a:t>
            </a:r>
            <a:r>
              <a:rPr sz="825" b="0">
                <a:solidFill>
                  <a:srgbClr val="B1C2DA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B1C2DA"/>
                </a:solidFill>
                <a:latin typeface="Arial"/>
                <a:ea typeface="Microsoft YaHei"/>
              </a:rPr>
              <a:t>×</a:t>
            </a:r>
            <a:r>
              <a:rPr sz="825" b="0">
                <a:solidFill>
                  <a:srgbClr val="B1C2DA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B1C2DA"/>
                </a:solidFill>
                <a:latin typeface="Arial"/>
                <a:ea typeface="Microsoft YaHei"/>
              </a:rPr>
              <a:t>BVPE</a:t>
            </a:r>
            <a:r>
              <a:rPr sz="825" b="0">
                <a:solidFill>
                  <a:srgbClr val="B1C2DA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B1C2DA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B1C2DA"/>
                </a:solidFill>
                <a:latin typeface="Microsoft YaHei"/>
                <a:ea typeface="Microsoft YaHei"/>
              </a:rPr>
              <a:t>  系统能力与应用场景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1C2DA"/>
                </a:solidFill>
                <a:latin typeface="Arial"/>
                <a:ea typeface="Microsoft YaHei"/>
              </a:rPr>
              <a:t>01/19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95275"/>
            <a:ext cx="1841129" cy="1733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01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RESEARCH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676275"/>
            <a:ext cx="6934200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在同一套环境坐标下，关联电输运与光生响应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47775"/>
            <a:ext cx="6120924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共同坐标：样品、温度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T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、磁场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B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、栅压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Vg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；两条测量链由中央统一组织。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4350" y="1962150"/>
            <a:ext cx="5381625" cy="270510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4350" y="2124075"/>
            <a:ext cx="38100" cy="314325"/>
          </a:xfrm>
          <a:prstGeom prst="rect">
            <a:avLst/>
          </a:pr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850" y="2114550"/>
            <a:ext cx="1584107" cy="3867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7653CF"/>
                </a:solidFill>
                <a:latin typeface="Microsoft YaHei"/>
                <a:ea typeface="Microsoft YaHei"/>
              </a:rPr>
              <a:t>非线性 </a:t>
            </a:r>
            <a:r>
              <a:rPr sz="2175" b="1">
                <a:solidFill>
                  <a:srgbClr val="7653CF"/>
                </a:solidFill>
                <a:latin typeface="Arial"/>
                <a:ea typeface="Microsoft YaHei"/>
              </a:rPr>
              <a:t>Hall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552700"/>
            <a:ext cx="3130599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电激励：锁相输出 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串联电阻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2861310"/>
            <a:ext cx="2301701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输运通道：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Vxx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、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Vxy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3169920"/>
            <a:ext cx="4103154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测量维度：激励幅值、频率、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T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、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B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、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478529"/>
            <a:ext cx="32766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研究重点：二阶横向响应与对照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1962150"/>
            <a:ext cx="5524500" cy="270510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3150" y="2124075"/>
            <a:ext cx="38100" cy="314325"/>
          </a:xfrm>
          <a:prstGeom prst="rect">
            <a:avLst/>
          </a:pr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3650" y="2114550"/>
            <a:ext cx="2242030" cy="3867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68D9D"/>
                </a:solidFill>
                <a:latin typeface="Arial"/>
                <a:ea typeface="Microsoft YaHei"/>
              </a:rPr>
              <a:t>BVPE</a:t>
            </a:r>
            <a:r>
              <a:rPr sz="21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21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2175" b="1">
                <a:solidFill>
                  <a:srgbClr val="168D9D"/>
                </a:solidFill>
                <a:latin typeface="Microsoft YaHei"/>
                <a:ea typeface="Microsoft YaHei"/>
              </a:rPr>
              <a:t> 光生响应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3650" y="2552700"/>
            <a:ext cx="3539244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光激励：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SuperK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或 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730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nm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激光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3650" y="2861310"/>
            <a:ext cx="35782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调制参考：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chopper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→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BVPE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锁相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3650" y="3169920"/>
            <a:ext cx="4331754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测量维度：波段、功率、偏振、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T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、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B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、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Vg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3650" y="3478529"/>
            <a:ext cx="37338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研究重点：光生信号与光学条件关联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6300" y="5095875"/>
            <a:ext cx="2333625" cy="326707"/>
          </a:xfrm>
          <a:prstGeom prst="roundRect">
            <a:avLst>
              <a:gd name="adj" fmla="val 4081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3037" y="5143500"/>
            <a:ext cx="1276350" cy="240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8D9D"/>
                </a:solidFill>
                <a:latin typeface="Microsoft YaHei"/>
                <a:ea typeface="Microsoft YaHei"/>
              </a:rPr>
              <a:t>同一份样品记录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6625" y="5095875"/>
            <a:ext cx="2333625" cy="326707"/>
          </a:xfrm>
          <a:prstGeom prst="roundRect">
            <a:avLst>
              <a:gd name="adj" fmla="val 4081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43362" y="5143500"/>
            <a:ext cx="1276350" cy="240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8D9D"/>
                </a:solidFill>
                <a:latin typeface="Microsoft YaHei"/>
                <a:ea typeface="Microsoft YaHei"/>
              </a:rPr>
              <a:t>同一套环境读回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76950" y="5095875"/>
            <a:ext cx="2333625" cy="326707"/>
          </a:xfrm>
          <a:prstGeom prst="roundRect">
            <a:avLst>
              <a:gd name="adj" fmla="val 4081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7962" y="5143500"/>
            <a:ext cx="1447800" cy="240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8D9D"/>
                </a:solidFill>
                <a:latin typeface="Microsoft YaHei"/>
                <a:ea typeface="Microsoft YaHei"/>
              </a:rPr>
              <a:t>可比较的测量阶段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77275" y="5095875"/>
            <a:ext cx="2619375" cy="326707"/>
          </a:xfrm>
          <a:prstGeom prst="roundRect">
            <a:avLst>
              <a:gd name="adj" fmla="val 4081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5437" y="5143500"/>
            <a:ext cx="1619250" cy="240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8D9D"/>
                </a:solidFill>
                <a:latin typeface="Microsoft YaHei"/>
                <a:ea typeface="Microsoft YaHei"/>
              </a:rPr>
              <a:t>可追溯的数据与决策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" y="5886450"/>
            <a:ext cx="11163300" cy="514350"/>
          </a:xfrm>
          <a:prstGeom prst="roundRect">
            <a:avLst>
              <a:gd name="adj" fmla="val 1666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5325" y="6000750"/>
            <a:ext cx="7802640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中央 </a:t>
            </a:r>
            <a:r>
              <a:rPr sz="1650" b="1">
                <a:solidFill>
                  <a:srgbClr val="168D9D"/>
                </a:solidFill>
                <a:latin typeface="Arial"/>
                <a:ea typeface="Microsoft YaHei"/>
              </a:rPr>
              <a:t>Agent</a:t>
            </a: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 把科研目标拆成可执行阶段，再把不同 </a:t>
            </a:r>
            <a:r>
              <a:rPr sz="1650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 的结果汇成同一条证据链。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3875" y="6619875"/>
            <a:ext cx="2605738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非线性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Hall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×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BVPE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系统能力与应用场景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58C"/>
                </a:solidFill>
                <a:latin typeface="Arial"/>
                <a:ea typeface="Microsoft YaHei"/>
              </a:rPr>
              <a:t>02/19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95275"/>
            <a:ext cx="2007882" cy="1733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02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SYSTEM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676275"/>
            <a:ext cx="6934200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中央做编排，本地管设备，数据反馈形成闭环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47775"/>
            <a:ext cx="6291648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总体分层借鉴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QUANTA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的框架表达，按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LabOS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与这套双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PC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装置重新绘制。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19800" y="2133600"/>
            <a:ext cx="0" cy="190500"/>
          </a:xfrm>
          <a:prstGeom prst="line">
            <a:avLst/>
          </a:prstGeom>
          <a:ln w="20955">
            <a:solidFill>
              <a:srgbClr val="BC7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5981700" y="22352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6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019800" y="3067050"/>
            <a:ext cx="0" cy="295275"/>
          </a:xfrm>
          <a:prstGeom prst="line">
            <a:avLst/>
          </a:prstGeom>
          <a:ln w="20955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5981700" y="32766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6" y="0"/>
                </a:lnTo>
                <a:lnTo>
                  <a:pt x="0" y="0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048250" y="4162425"/>
            <a:ext cx="0" cy="85725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124200" y="4248150"/>
            <a:ext cx="1924050" cy="0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24200" y="4248150"/>
            <a:ext cx="0" cy="95250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reeform 12"/>
          <p:cNvSpPr/>
          <p:nvPr/>
        </p:nvSpPr>
        <p:spPr>
          <a:xfrm>
            <a:off x="3086100" y="42545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6" y="0"/>
                </a:lnTo>
                <a:lnTo>
                  <a:pt x="0" y="0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134225" y="4162425"/>
            <a:ext cx="0" cy="85725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4225" y="4248150"/>
            <a:ext cx="1828800" cy="0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63025" y="4248150"/>
            <a:ext cx="0" cy="95250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8928100" y="42545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6" y="0"/>
                </a:lnTo>
                <a:lnTo>
                  <a:pt x="0" y="0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285750" y="5810250"/>
            <a:ext cx="1952625" cy="0"/>
          </a:xfrm>
          <a:prstGeom prst="line">
            <a:avLst/>
          </a:prstGeom>
          <a:ln w="19050">
            <a:solidFill>
              <a:srgbClr val="2785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85750" y="2714625"/>
            <a:ext cx="0" cy="3095625"/>
          </a:xfrm>
          <a:prstGeom prst="line">
            <a:avLst/>
          </a:prstGeom>
          <a:ln w="19050">
            <a:solidFill>
              <a:srgbClr val="2785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85750" y="2714625"/>
            <a:ext cx="2352675" cy="0"/>
          </a:xfrm>
          <a:prstGeom prst="line">
            <a:avLst/>
          </a:prstGeom>
          <a:ln w="19050">
            <a:solidFill>
              <a:srgbClr val="2785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2552700" y="26797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27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0001250" y="5810250"/>
            <a:ext cx="1905000" cy="0"/>
          </a:xfrm>
          <a:prstGeom prst="line">
            <a:avLst/>
          </a:prstGeom>
          <a:ln w="19050">
            <a:solidFill>
              <a:srgbClr val="2785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906250" y="2714625"/>
            <a:ext cx="0" cy="3095625"/>
          </a:xfrm>
          <a:prstGeom prst="line">
            <a:avLst/>
          </a:prstGeom>
          <a:ln w="19050">
            <a:solidFill>
              <a:srgbClr val="2785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534525" y="2714625"/>
            <a:ext cx="2371725" cy="0"/>
          </a:xfrm>
          <a:prstGeom prst="line">
            <a:avLst/>
          </a:prstGeom>
          <a:ln w="19050">
            <a:solidFill>
              <a:srgbClr val="2785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9537700" y="26797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0" y="3"/>
                </a:moveTo>
                <a:lnTo>
                  <a:pt x="7" y="6"/>
                </a:lnTo>
                <a:lnTo>
                  <a:pt x="7" y="0"/>
                </a:lnTo>
                <a:close/>
              </a:path>
            </a:pathLst>
          </a:custGeom>
          <a:solidFill>
            <a:srgbClr val="27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V="1">
            <a:off x="1895475" y="2952750"/>
            <a:ext cx="0" cy="333375"/>
          </a:xfrm>
          <a:prstGeom prst="line">
            <a:avLst/>
          </a:prstGeom>
          <a:ln w="1905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95475" y="2952750"/>
            <a:ext cx="752475" cy="0"/>
          </a:xfrm>
          <a:prstGeom prst="line">
            <a:avLst/>
          </a:prstGeom>
          <a:ln w="1905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2565400" y="29083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6" y="3"/>
                </a:moveTo>
                <a:lnTo>
                  <a:pt x="0" y="0"/>
                </a:lnTo>
                <a:lnTo>
                  <a:pt x="0" y="7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8153400" y="3762375"/>
            <a:ext cx="809625" cy="0"/>
          </a:xfrm>
          <a:prstGeom prst="line">
            <a:avLst/>
          </a:prstGeom>
          <a:ln w="19050">
            <a:solidFill>
              <a:srgbClr val="2785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8877300" y="37211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27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10477500" y="2962275"/>
            <a:ext cx="0" cy="323850"/>
          </a:xfrm>
          <a:prstGeom prst="line">
            <a:avLst/>
          </a:prstGeom>
          <a:ln w="19050">
            <a:solidFill>
              <a:srgbClr val="2785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9534525" y="2962275"/>
            <a:ext cx="942975" cy="0"/>
          </a:xfrm>
          <a:prstGeom prst="line">
            <a:avLst/>
          </a:prstGeom>
          <a:ln w="19050">
            <a:solidFill>
              <a:srgbClr val="2785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9537700" y="29210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0" y="3"/>
                </a:moveTo>
                <a:lnTo>
                  <a:pt x="7" y="6"/>
                </a:lnTo>
                <a:lnTo>
                  <a:pt x="7" y="0"/>
                </a:lnTo>
                <a:close/>
              </a:path>
            </a:pathLst>
          </a:custGeom>
          <a:solidFill>
            <a:srgbClr val="27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38550" y="1743075"/>
            <a:ext cx="4762500" cy="409575"/>
          </a:xfrm>
          <a:prstGeom prst="roundRect">
            <a:avLst>
              <a:gd name="adj" fmla="val 23255"/>
            </a:avLst>
          </a:prstGeom>
          <a:solidFill>
            <a:srgbClr val="FFF4DE"/>
          </a:solidFill>
          <a:ln w="13334">
            <a:solidFill>
              <a:srgbClr val="BC7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00537" y="1825704"/>
            <a:ext cx="3514725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BC7D1D"/>
                </a:solidFill>
                <a:latin typeface="Microsoft YaHei"/>
                <a:ea typeface="Microsoft YaHei"/>
              </a:rPr>
              <a:t>研究者：目标、样品、允许边界与物理操作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47950" y="2324100"/>
            <a:ext cx="6886575" cy="762000"/>
          </a:xfrm>
          <a:prstGeom prst="roundRect">
            <a:avLst>
              <a:gd name="adj" fmla="val 12500"/>
            </a:avLst>
          </a:prstGeom>
          <a:solidFill>
            <a:srgbClr val="F1ECFC"/>
          </a:solidFill>
          <a:ln w="13334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1161" y="2447925"/>
            <a:ext cx="3296352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7653CF"/>
                </a:solidFill>
                <a:latin typeface="Microsoft YaHei"/>
                <a:ea typeface="Microsoft YaHei"/>
              </a:rPr>
              <a:t>中央 </a:t>
            </a:r>
            <a:r>
              <a:rPr sz="1875" b="1">
                <a:solidFill>
                  <a:srgbClr val="7653CF"/>
                </a:solidFill>
                <a:latin typeface="Arial"/>
                <a:ea typeface="Microsoft YaHei"/>
              </a:rPr>
              <a:t>Agent</a:t>
            </a:r>
            <a:r>
              <a:rPr sz="1875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875" b="1">
                <a:solidFill>
                  <a:srgbClr val="7653CF"/>
                </a:solidFill>
                <a:latin typeface="Arial"/>
                <a:ea typeface="Microsoft YaHei"/>
              </a:rPr>
              <a:t>·</a:t>
            </a:r>
            <a:r>
              <a:rPr sz="1875" b="1">
                <a:solidFill>
                  <a:srgbClr val="7653CF"/>
                </a:solidFill>
                <a:latin typeface="Microsoft YaHei"/>
                <a:ea typeface="Microsoft YaHei"/>
              </a:rPr>
              <a:t> 科研规划与解释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0903" y="2797968"/>
            <a:ext cx="3756868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任务分解 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 资料检索 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 数据审阅 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 诊断与下一步建议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4350" y="3286125"/>
            <a:ext cx="2724150" cy="695325"/>
          </a:xfrm>
          <a:prstGeom prst="roundRect">
            <a:avLst>
              <a:gd name="adj" fmla="val 13698"/>
            </a:avLst>
          </a:prstGeom>
          <a:solidFill>
            <a:srgbClr val="FFFFFF"/>
          </a:solidFill>
          <a:ln w="13334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76337" y="3362325"/>
            <a:ext cx="1476375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7653CF"/>
                </a:solidFill>
                <a:latin typeface="Microsoft YaHei"/>
                <a:ea typeface="Microsoft YaHei"/>
              </a:rPr>
              <a:t>知识与实验记录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717" y="3660933"/>
            <a:ext cx="1879615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手册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·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旧代码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·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协议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·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历史运行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29075" y="3362325"/>
            <a:ext cx="4124325" cy="800100"/>
          </a:xfrm>
          <a:prstGeom prst="roundRect">
            <a:avLst>
              <a:gd name="adj" fmla="val 11904"/>
            </a:avLst>
          </a:prstGeom>
          <a:solidFill>
            <a:srgbClr val="E9F6F7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6837" y="3486150"/>
            <a:ext cx="19050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确定性执行协调器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9714" y="3823334"/>
            <a:ext cx="2899246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参数校验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·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设备独占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·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阶段屏障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·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命令日志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63025" y="3286125"/>
            <a:ext cx="2714625" cy="695325"/>
          </a:xfrm>
          <a:prstGeom prst="roundRect">
            <a:avLst>
              <a:gd name="adj" fmla="val 13698"/>
            </a:avLst>
          </a:prstGeom>
          <a:solidFill>
            <a:srgbClr val="FFFFFF"/>
          </a:solidFill>
          <a:ln w="13334">
            <a:solidFill>
              <a:srgbClr val="278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20250" y="3362325"/>
            <a:ext cx="1476375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278565"/>
                </a:solidFill>
                <a:latin typeface="Microsoft YaHei"/>
                <a:ea typeface="Microsoft YaHei"/>
              </a:rPr>
              <a:t>统一数据与证据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629" y="3660933"/>
            <a:ext cx="1879615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原始值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·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读回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·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质量标记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·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复盘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3425" y="4352925"/>
            <a:ext cx="4762500" cy="16002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3425" y="4514850"/>
            <a:ext cx="38100" cy="314325"/>
          </a:xfrm>
          <a:prstGeom prst="rect">
            <a:avLst/>
          </a:pr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3925" y="4505325"/>
            <a:ext cx="2596604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800" b="1">
                <a:solidFill>
                  <a:srgbClr val="168D9D"/>
                </a:solidFill>
                <a:latin typeface="Arial"/>
                <a:ea typeface="Microsoft YaHei"/>
              </a:rPr>
              <a:t>A</a:t>
            </a: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800" b="1">
                <a:solidFill>
                  <a:srgbClr val="168D9D"/>
                </a:solidFill>
                <a:latin typeface="Arial"/>
                <a:ea typeface="Microsoft YaHei"/>
              </a:rPr>
              <a:t>Agent</a:t>
            </a: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800" b="1">
                <a:solidFill>
                  <a:srgbClr val="168D9D"/>
                </a:solidFill>
                <a:latin typeface="Arial"/>
                <a:ea typeface="Microsoft YaHei"/>
              </a:rPr>
              <a:t>·</a:t>
            </a: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 光学资源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925" y="4943475"/>
            <a:ext cx="2014393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SuperK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超连续光源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925" y="5239226"/>
            <a:ext cx="2924175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红外光谱仪：光谱与参考采集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53125" y="4352925"/>
            <a:ext cx="5514975" cy="16002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953125" y="4514850"/>
            <a:ext cx="38100" cy="314325"/>
          </a:xfrm>
          <a:prstGeom prst="rect">
            <a:avLst/>
          </a:pr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43625" y="4505325"/>
            <a:ext cx="3508325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800" b="1">
                <a:solidFill>
                  <a:srgbClr val="168D9D"/>
                </a:solidFill>
                <a:latin typeface="Arial"/>
                <a:ea typeface="Microsoft YaHei"/>
              </a:rPr>
              <a:t>B</a:t>
            </a: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800" b="1">
                <a:solidFill>
                  <a:srgbClr val="168D9D"/>
                </a:solidFill>
                <a:latin typeface="Arial"/>
                <a:ea typeface="Microsoft YaHei"/>
              </a:rPr>
              <a:t>Agent</a:t>
            </a: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800" b="1">
                <a:solidFill>
                  <a:srgbClr val="168D9D"/>
                </a:solidFill>
                <a:latin typeface="Arial"/>
                <a:ea typeface="Microsoft YaHei"/>
              </a:rPr>
              <a:t>·</a:t>
            </a: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 环境、电学与调制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43625" y="4943475"/>
            <a:ext cx="3574879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attoDRY</a:t>
            </a: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·</a:t>
            </a: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Vxx</a:t>
            </a: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Vxy</a:t>
            </a: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 锁相 </a:t>
            </a: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·</a:t>
            </a: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BVPE</a:t>
            </a: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 锁相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43625" y="5213508"/>
            <a:ext cx="4025131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chopper</a:t>
            </a: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·</a:t>
            </a: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PD</a:t>
            </a: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·</a:t>
            </a: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2400</a:t>
            </a: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·</a:t>
            </a: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730</a:t>
            </a: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nm</a:t>
            </a: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CLD1000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43625" y="5483542"/>
            <a:ext cx="2448566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电控偏振片 </a:t>
            </a:r>
            <a:r>
              <a:rPr sz="157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575" b="0">
                <a:solidFill>
                  <a:srgbClr val="23364D"/>
                </a:solidFill>
                <a:latin typeface="Microsoft YaHei"/>
                <a:ea typeface="Microsoft YaHei"/>
              </a:rPr>
              <a:t> 四分之一波片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9575" y="4171950"/>
            <a:ext cx="1750795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278565"/>
                </a:solidFill>
                <a:latin typeface="Microsoft YaHei"/>
                <a:ea typeface="Microsoft YaHei"/>
              </a:rPr>
              <a:t>测量结果 </a:t>
            </a:r>
            <a:r>
              <a:rPr sz="1125" b="0">
                <a:solidFill>
                  <a:srgbClr val="278565"/>
                </a:solidFill>
                <a:latin typeface="Arial"/>
                <a:ea typeface="Microsoft YaHei"/>
              </a:rPr>
              <a:t>/</a:t>
            </a:r>
            <a:r>
              <a:rPr sz="1125" b="0">
                <a:solidFill>
                  <a:srgbClr val="278565"/>
                </a:solidFill>
                <a:latin typeface="Microsoft YaHei"/>
                <a:ea typeface="Microsoft YaHei"/>
              </a:rPr>
              <a:t> 异常 </a:t>
            </a:r>
            <a:r>
              <a:rPr sz="1125" b="0">
                <a:solidFill>
                  <a:srgbClr val="278565"/>
                </a:solidFill>
                <a:latin typeface="Arial"/>
                <a:ea typeface="Microsoft YaHei"/>
              </a:rPr>
              <a:t>/</a:t>
            </a:r>
            <a:r>
              <a:rPr sz="1125" b="0">
                <a:solidFill>
                  <a:srgbClr val="278565"/>
                </a:solidFill>
                <a:latin typeface="Microsoft YaHei"/>
                <a:ea typeface="Microsoft YaHei"/>
              </a:rPr>
              <a:t> 质量反馈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23875" y="6619875"/>
            <a:ext cx="3585804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[1]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QUANTA,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arXiv:2610.38850,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Fig.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1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；本图为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场景原创重绘。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58C"/>
                </a:solidFill>
                <a:latin typeface="Arial"/>
                <a:ea typeface="Microsoft YaHei"/>
              </a:rPr>
              <a:t>03/19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95275"/>
            <a:ext cx="1750739" cy="1733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03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DEVICE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676275"/>
            <a:ext cx="6245051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设备归属清楚，跨 </a:t>
            </a:r>
            <a:r>
              <a:rPr sz="2700" b="1">
                <a:solidFill>
                  <a:srgbClr val="11233E"/>
                </a:solidFill>
                <a:latin typeface="Arial"/>
                <a:ea typeface="Microsoft YaHei"/>
              </a:rPr>
              <a:t>PC</a:t>
            </a: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 协作就有稳定边界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47775"/>
            <a:ext cx="6466084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每台设备由所属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PC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的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Agent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持有连接；中央调用可描述、可组合的仪器能力。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4350" y="1819275"/>
            <a:ext cx="11163300" cy="398145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1943100"/>
            <a:ext cx="457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2758C"/>
                </a:solidFill>
                <a:latin typeface="Microsoft YaHei"/>
                <a:ea typeface="Microsoft YaHei"/>
              </a:rPr>
              <a:t>归属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225" y="1943100"/>
            <a:ext cx="1197991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2758C"/>
                </a:solidFill>
                <a:latin typeface="Microsoft YaHei"/>
                <a:ea typeface="Microsoft YaHei"/>
              </a:rPr>
              <a:t>设备 </a:t>
            </a:r>
            <a:r>
              <a:rPr sz="1500" b="1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500" b="1">
                <a:solidFill>
                  <a:srgbClr val="62758C"/>
                </a:solidFill>
                <a:latin typeface="Microsoft YaHei"/>
                <a:ea typeface="Microsoft YaHei"/>
              </a:rPr>
              <a:t> 子系统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6950" y="1943100"/>
            <a:ext cx="14097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2758C"/>
                </a:solidFill>
                <a:latin typeface="Microsoft YaHei"/>
                <a:ea typeface="Microsoft YaHei"/>
              </a:rPr>
              <a:t>在实验中的作用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125" y="2276475"/>
            <a:ext cx="10953750" cy="40005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" y="2305050"/>
            <a:ext cx="529079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4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225" y="2305050"/>
            <a:ext cx="1769394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23364D"/>
                </a:solidFill>
                <a:latin typeface="Arial"/>
                <a:ea typeface="Microsoft YaHei"/>
              </a:rPr>
              <a:t>SuperK</a:t>
            </a:r>
            <a:r>
              <a:rPr sz="1425" b="1">
                <a:solidFill>
                  <a:srgbClr val="23364D"/>
                </a:solidFill>
                <a:latin typeface="Microsoft YaHei"/>
                <a:ea typeface="Microsoft YaHei"/>
              </a:rPr>
              <a:t> 超连续光源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6950" y="2305050"/>
            <a:ext cx="2041652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宽谱 </a:t>
            </a:r>
            <a:r>
              <a:rPr sz="14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 选定波段的光激励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2714625"/>
            <a:ext cx="529079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4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0225" y="2714625"/>
            <a:ext cx="981075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23364D"/>
                </a:solidFill>
                <a:latin typeface="Microsoft YaHei"/>
                <a:ea typeface="Microsoft YaHei"/>
              </a:rPr>
              <a:t>红外光谱仪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6950" y="2714625"/>
            <a:ext cx="2197354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入射谱 </a:t>
            </a:r>
            <a:r>
              <a:rPr sz="14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 参考谱 </a:t>
            </a:r>
            <a:r>
              <a:rPr sz="14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 光谱诊断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125" y="3095625"/>
            <a:ext cx="10953750" cy="40005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900" y="3124200"/>
            <a:ext cx="526958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4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225" y="3124200"/>
            <a:ext cx="916302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23364D"/>
                </a:solidFill>
                <a:latin typeface="Arial"/>
                <a:ea typeface="Microsoft YaHei"/>
              </a:rPr>
              <a:t>attoDRY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6950" y="3124200"/>
            <a:ext cx="2129135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样品温度 </a:t>
            </a:r>
            <a:r>
              <a:rPr sz="1425" b="0">
                <a:solidFill>
                  <a:srgbClr val="23364D"/>
                </a:solidFill>
                <a:latin typeface="Arial"/>
                <a:ea typeface="Microsoft YaHei"/>
              </a:rPr>
              <a:t>T</a:t>
            </a: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 与磁场 </a:t>
            </a:r>
            <a:r>
              <a:rPr sz="1425" b="0">
                <a:solidFill>
                  <a:srgbClr val="23364D"/>
                </a:solidFill>
                <a:latin typeface="Arial"/>
                <a:ea typeface="Microsoft YaHei"/>
              </a:rPr>
              <a:t>B</a:t>
            </a: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 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3533775"/>
            <a:ext cx="526958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4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0225" y="3533775"/>
            <a:ext cx="1172388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23364D"/>
                </a:solidFill>
                <a:latin typeface="Microsoft YaHei"/>
                <a:ea typeface="Microsoft YaHei"/>
              </a:rPr>
              <a:t>输运锁相 </a:t>
            </a:r>
            <a:r>
              <a:rPr sz="1425" b="1">
                <a:solidFill>
                  <a:srgbClr val="23364D"/>
                </a:solidFill>
                <a:latin typeface="Arial"/>
                <a:ea typeface="Microsoft YaHei"/>
              </a:rPr>
              <a:t>×</a:t>
            </a:r>
            <a:r>
              <a:rPr sz="1425" b="1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23364D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6950" y="3533775"/>
            <a:ext cx="3607686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分别读 </a:t>
            </a:r>
            <a:r>
              <a:rPr sz="1425" b="0">
                <a:solidFill>
                  <a:srgbClr val="23364D"/>
                </a:solidFill>
                <a:latin typeface="Arial"/>
                <a:ea typeface="Microsoft YaHei"/>
              </a:rPr>
              <a:t>Vxx</a:t>
            </a: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、</a:t>
            </a:r>
            <a:r>
              <a:rPr sz="1425" b="0">
                <a:solidFill>
                  <a:srgbClr val="23364D"/>
                </a:solidFill>
                <a:latin typeface="Arial"/>
                <a:ea typeface="Microsoft YaHei"/>
              </a:rPr>
              <a:t>Vxy</a:t>
            </a: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；配置 </a:t>
            </a:r>
            <a:r>
              <a:rPr sz="1425" b="0">
                <a:solidFill>
                  <a:srgbClr val="23364D"/>
                </a:solidFill>
                <a:latin typeface="Arial"/>
                <a:ea typeface="Microsoft YaHei"/>
              </a:rPr>
              <a:t>1f</a:t>
            </a: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23364D"/>
                </a:solidFill>
                <a:latin typeface="Arial"/>
                <a:ea typeface="Microsoft YaHei"/>
              </a:rPr>
              <a:t>2f</a:t>
            </a: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 与 </a:t>
            </a:r>
            <a:r>
              <a:rPr sz="1425" b="0">
                <a:solidFill>
                  <a:srgbClr val="23364D"/>
                </a:solidFill>
                <a:latin typeface="Arial"/>
                <a:ea typeface="Microsoft YaHei"/>
              </a:rPr>
              <a:t>X/Y</a:t>
            </a: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 相位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125" y="3914775"/>
            <a:ext cx="10953750" cy="40005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3900" y="3943350"/>
            <a:ext cx="526958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4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00225" y="3943350"/>
            <a:ext cx="2097676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23364D"/>
                </a:solidFill>
                <a:latin typeface="Arial"/>
                <a:ea typeface="Microsoft YaHei"/>
              </a:rPr>
              <a:t>chopper</a:t>
            </a:r>
            <a:r>
              <a:rPr sz="1425" b="1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425" b="1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23364D"/>
                </a:solidFill>
                <a:latin typeface="Arial"/>
                <a:ea typeface="Microsoft YaHei"/>
              </a:rPr>
              <a:t>BVPE</a:t>
            </a:r>
            <a:r>
              <a:rPr sz="1425" b="1">
                <a:solidFill>
                  <a:srgbClr val="23364D"/>
                </a:solidFill>
                <a:latin typeface="Microsoft YaHei"/>
                <a:ea typeface="Microsoft YaHei"/>
              </a:rPr>
              <a:t> 锁相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76950" y="3943350"/>
            <a:ext cx="2765552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光调制与同步光生电流 </a:t>
            </a:r>
            <a:r>
              <a:rPr sz="14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 电压读出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900" y="4352925"/>
            <a:ext cx="526958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4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0225" y="4352925"/>
            <a:ext cx="1109118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23364D"/>
                </a:solidFill>
                <a:latin typeface="Arial"/>
                <a:ea typeface="Microsoft YaHei"/>
              </a:rPr>
              <a:t>PD</a:t>
            </a:r>
            <a:r>
              <a:rPr sz="1425" b="1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425" b="1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23364D"/>
                </a:solidFill>
                <a:latin typeface="Arial"/>
                <a:ea typeface="Microsoft YaHei"/>
              </a:rPr>
              <a:t>2400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76950" y="4352925"/>
            <a:ext cx="2977897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光功率读回；栅压 </a:t>
            </a:r>
            <a:r>
              <a:rPr sz="1425" b="0">
                <a:solidFill>
                  <a:srgbClr val="23364D"/>
                </a:solidFill>
                <a:latin typeface="Arial"/>
                <a:ea typeface="Microsoft YaHei"/>
              </a:rPr>
              <a:t>Vg</a:t>
            </a: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 与栅漏电流 </a:t>
            </a:r>
            <a:r>
              <a:rPr sz="1425" b="0">
                <a:solidFill>
                  <a:srgbClr val="23364D"/>
                </a:solidFill>
                <a:latin typeface="Arial"/>
                <a:ea typeface="Microsoft YaHei"/>
              </a:rPr>
              <a:t>Ig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125" y="4733925"/>
            <a:ext cx="10953750" cy="40005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900" y="4762500"/>
            <a:ext cx="526958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4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0225" y="4762500"/>
            <a:ext cx="2557448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23364D"/>
                </a:solidFill>
                <a:latin typeface="Arial"/>
                <a:ea typeface="Microsoft YaHei"/>
              </a:rPr>
              <a:t>730</a:t>
            </a:r>
            <a:r>
              <a:rPr sz="1425" b="1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23364D"/>
                </a:solidFill>
                <a:latin typeface="Arial"/>
                <a:ea typeface="Microsoft YaHei"/>
              </a:rPr>
              <a:t>nm</a:t>
            </a:r>
            <a:r>
              <a:rPr sz="1425" b="1">
                <a:solidFill>
                  <a:srgbClr val="23364D"/>
                </a:solidFill>
                <a:latin typeface="Microsoft YaHei"/>
                <a:ea typeface="Microsoft YaHei"/>
              </a:rPr>
              <a:t> 激光器 </a:t>
            </a:r>
            <a:r>
              <a:rPr sz="1425" b="1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425" b="1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23364D"/>
                </a:solidFill>
                <a:latin typeface="Arial"/>
                <a:ea typeface="Microsoft YaHei"/>
              </a:rPr>
              <a:t>CLD1000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76950" y="4762500"/>
            <a:ext cx="2790825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激光照明；驱动电流与光功率标定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900" y="5172075"/>
            <a:ext cx="526958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4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00225" y="5172075"/>
            <a:ext cx="2227752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23364D"/>
                </a:solidFill>
                <a:latin typeface="Microsoft YaHei"/>
                <a:ea typeface="Microsoft YaHei"/>
              </a:rPr>
              <a:t>电控偏振片 </a:t>
            </a:r>
            <a:r>
              <a:rPr sz="1425" b="1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425" b="1">
                <a:solidFill>
                  <a:srgbClr val="23364D"/>
                </a:solidFill>
                <a:latin typeface="Microsoft YaHei"/>
                <a:ea typeface="Microsoft YaHei"/>
              </a:rPr>
              <a:t> 四分之一波片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76950" y="5172075"/>
            <a:ext cx="1860677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线偏振角 </a:t>
            </a:r>
            <a:r>
              <a:rPr sz="14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425" b="0">
                <a:solidFill>
                  <a:srgbClr val="23364D"/>
                </a:solidFill>
                <a:latin typeface="Microsoft YaHei"/>
                <a:ea typeface="Microsoft YaHei"/>
              </a:rPr>
              <a:t> 偏振态扫描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4350" y="5886450"/>
            <a:ext cx="11163300" cy="514350"/>
          </a:xfrm>
          <a:prstGeom prst="roundRect">
            <a:avLst>
              <a:gd name="adj" fmla="val 1666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5325" y="6000750"/>
            <a:ext cx="7383540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同一台设备只归一个 </a:t>
            </a:r>
            <a:r>
              <a:rPr sz="1650" b="1">
                <a:solidFill>
                  <a:srgbClr val="168D9D"/>
                </a:solidFill>
                <a:latin typeface="Arial"/>
                <a:ea typeface="Microsoft YaHei"/>
              </a:rPr>
              <a:t>Agent</a:t>
            </a: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 管理；同一个实验可以组合任意多个 </a:t>
            </a:r>
            <a:r>
              <a:rPr sz="1650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 的能力。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23875" y="6619875"/>
            <a:ext cx="2605738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非线性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Hall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×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BVPE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系统能力与应用场景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58C"/>
                </a:solidFill>
                <a:latin typeface="Arial"/>
                <a:ea typeface="Microsoft YaHei"/>
              </a:rPr>
              <a:t>04/19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95275"/>
            <a:ext cx="1933333" cy="1733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04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PHYSICAL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SIGNAL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676275"/>
            <a:ext cx="6934200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软件连成一张网，物理信号仍沿各自链路流动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47775"/>
            <a:ext cx="5686425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青色：光路与测量信号；金色虚线：物理参考；紫色：电激励与控制。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4350" y="1809750"/>
            <a:ext cx="2914650" cy="1885950"/>
          </a:xfrm>
          <a:prstGeom prst="roundRect">
            <a:avLst>
              <a:gd name="adj" fmla="val 6060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14525"/>
            <a:ext cx="1814298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650" b="1">
                <a:solidFill>
                  <a:srgbClr val="168D9D"/>
                </a:solidFill>
                <a:latin typeface="Arial"/>
                <a:ea typeface="Microsoft YaHei"/>
              </a:rPr>
              <a:t>A</a:t>
            </a: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650" b="1">
                <a:solidFill>
                  <a:srgbClr val="168D9D"/>
                </a:solidFill>
                <a:latin typeface="Arial"/>
                <a:ea typeface="Microsoft YaHei"/>
              </a:rPr>
              <a:t>·</a:t>
            </a: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 光源 </a:t>
            </a:r>
            <a:r>
              <a:rPr sz="1650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 光谱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5325" y="2352675"/>
            <a:ext cx="2524125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6744" y="2481262"/>
            <a:ext cx="1877485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8D9D"/>
                </a:solidFill>
                <a:latin typeface="Arial"/>
                <a:ea typeface="Microsoft YaHei"/>
              </a:rPr>
              <a:t>SuperK</a:t>
            </a: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500" b="1">
                <a:solidFill>
                  <a:srgbClr val="168D9D"/>
                </a:solidFill>
                <a:latin typeface="Arial"/>
                <a:ea typeface="Microsoft YaHei"/>
              </a:rPr>
              <a:t>+</a:t>
            </a: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 波段配置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5325" y="3048000"/>
            <a:ext cx="2524125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5696" y="3163966"/>
            <a:ext cx="1579582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IR</a:t>
            </a:r>
            <a:r>
              <a:rPr sz="1425" b="1">
                <a:solidFill>
                  <a:srgbClr val="168D9D"/>
                </a:solidFill>
                <a:latin typeface="Microsoft YaHei"/>
                <a:ea typeface="Microsoft YaHei"/>
              </a:rPr>
              <a:t> 光谱仪 </a:t>
            </a: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·</a:t>
            </a:r>
            <a:r>
              <a:rPr sz="1425" b="1">
                <a:solidFill>
                  <a:srgbClr val="168D9D"/>
                </a:solidFill>
                <a:latin typeface="Microsoft YaHei"/>
                <a:ea typeface="Microsoft YaHei"/>
              </a:rPr>
              <a:t> 参考谱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350" y="3857625"/>
            <a:ext cx="2914650" cy="1714500"/>
          </a:xfrm>
          <a:prstGeom prst="roundRect">
            <a:avLst>
              <a:gd name="adj" fmla="val 6666"/>
            </a:avLst>
          </a:prstGeom>
          <a:solidFill>
            <a:srgbClr val="F1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962400"/>
            <a:ext cx="1625621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7653CF"/>
                </a:solidFill>
                <a:latin typeface="Arial"/>
                <a:ea typeface="Microsoft YaHei"/>
              </a:rPr>
              <a:t>PC</a:t>
            </a:r>
            <a:r>
              <a:rPr sz="16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650" b="1">
                <a:solidFill>
                  <a:srgbClr val="7653CF"/>
                </a:solidFill>
                <a:latin typeface="Arial"/>
                <a:ea typeface="Microsoft YaHei"/>
              </a:rPr>
              <a:t>B</a:t>
            </a:r>
            <a:r>
              <a:rPr sz="16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650" b="1">
                <a:solidFill>
                  <a:srgbClr val="7653CF"/>
                </a:solidFill>
                <a:latin typeface="Arial"/>
                <a:ea typeface="Microsoft YaHei"/>
              </a:rPr>
              <a:t>·</a:t>
            </a:r>
            <a:r>
              <a:rPr sz="1650" b="1">
                <a:solidFill>
                  <a:srgbClr val="7653CF"/>
                </a:solidFill>
                <a:latin typeface="Microsoft YaHei"/>
                <a:ea typeface="Microsoft YaHei"/>
              </a:rPr>
              <a:t> 激光光源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5325" y="4400550"/>
            <a:ext cx="2524125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3334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0820" y="4494133"/>
            <a:ext cx="1549333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7653CF"/>
                </a:solidFill>
                <a:latin typeface="Arial"/>
                <a:ea typeface="Microsoft YaHei"/>
              </a:rPr>
              <a:t>730</a:t>
            </a:r>
            <a:r>
              <a:rPr sz="1575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575" b="1">
                <a:solidFill>
                  <a:srgbClr val="7653CF"/>
                </a:solidFill>
                <a:latin typeface="Arial"/>
                <a:ea typeface="Microsoft YaHei"/>
              </a:rPr>
              <a:t>nm</a:t>
            </a:r>
            <a:r>
              <a:rPr sz="1575" b="1">
                <a:solidFill>
                  <a:srgbClr val="7653CF"/>
                </a:solidFill>
                <a:latin typeface="Microsoft YaHei"/>
                <a:ea typeface="Microsoft YaHei"/>
              </a:rPr>
              <a:t> 激光器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5325" y="5019675"/>
            <a:ext cx="2524125" cy="400050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3334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9764" y="5103971"/>
            <a:ext cx="1771445" cy="240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7653CF"/>
                </a:solidFill>
                <a:latin typeface="Arial"/>
                <a:ea typeface="Microsoft YaHei"/>
              </a:rPr>
              <a:t>CLD1000</a:t>
            </a:r>
            <a:r>
              <a:rPr sz="13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7653CF"/>
                </a:solidFill>
                <a:latin typeface="Arial"/>
                <a:ea typeface="Microsoft YaHei"/>
              </a:rPr>
              <a:t>·</a:t>
            </a:r>
            <a:r>
              <a:rPr sz="1350" b="1">
                <a:solidFill>
                  <a:srgbClr val="7653CF"/>
                </a:solidFill>
                <a:latin typeface="Microsoft YaHei"/>
                <a:ea typeface="Microsoft YaHei"/>
              </a:rPr>
              <a:t> 驱动电流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952625" y="4857750"/>
            <a:ext cx="0" cy="161925"/>
          </a:xfrm>
          <a:prstGeom prst="line">
            <a:avLst/>
          </a:prstGeom>
          <a:ln w="1905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1917700" y="48514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0"/>
                </a:moveTo>
                <a:lnTo>
                  <a:pt x="0" y="7"/>
                </a:lnTo>
                <a:lnTo>
                  <a:pt x="6" y="7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219450" y="2609850"/>
            <a:ext cx="457200" cy="0"/>
          </a:xfrm>
          <a:prstGeom prst="line">
            <a:avLst/>
          </a:prstGeom>
          <a:ln w="2857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76650" y="2609850"/>
            <a:ext cx="0" cy="904875"/>
          </a:xfrm>
          <a:prstGeom prst="line">
            <a:avLst/>
          </a:prstGeom>
          <a:ln w="2857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76650" y="3514725"/>
            <a:ext cx="428625" cy="0"/>
          </a:xfrm>
          <a:prstGeom prst="line">
            <a:avLst/>
          </a:prstGeom>
          <a:ln w="2857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4013200" y="34798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219450" y="4619625"/>
            <a:ext cx="457200" cy="0"/>
          </a:xfrm>
          <a:prstGeom prst="line">
            <a:avLst/>
          </a:prstGeom>
          <a:ln w="2857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676650" y="3514725"/>
            <a:ext cx="0" cy="1104900"/>
          </a:xfrm>
          <a:prstGeom prst="line">
            <a:avLst/>
          </a:prstGeom>
          <a:ln w="2857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3632200" y="35179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4" y="0"/>
                </a:moveTo>
                <a:lnTo>
                  <a:pt x="0" y="7"/>
                </a:lnTo>
                <a:lnTo>
                  <a:pt x="7" y="7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105275" y="3209925"/>
            <a:ext cx="1438275" cy="61912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6764" y="3286125"/>
            <a:ext cx="951495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8D9D"/>
                </a:solidFill>
                <a:latin typeface="Arial"/>
                <a:ea typeface="Microsoft YaHei"/>
              </a:rPr>
              <a:t>chopper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7712" y="3571875"/>
            <a:ext cx="609600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光强调制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7875" y="3209925"/>
            <a:ext cx="1466850" cy="61912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0300" y="3286125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偏振模块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2893" y="3571875"/>
            <a:ext cx="933012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线偏振片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λ/4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543550" y="3514725"/>
            <a:ext cx="314325" cy="0"/>
          </a:xfrm>
          <a:prstGeom prst="line">
            <a:avLst/>
          </a:prstGeom>
          <a:ln w="2857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5765800" y="34798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7324725" y="3514725"/>
            <a:ext cx="495300" cy="0"/>
          </a:xfrm>
          <a:prstGeom prst="line">
            <a:avLst/>
          </a:prstGeom>
          <a:ln w="2857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7734300" y="34798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20025" y="2743200"/>
            <a:ext cx="1971675" cy="1828800"/>
          </a:xfrm>
          <a:prstGeom prst="roundRect">
            <a:avLst>
              <a:gd name="adj" fmla="val 6770"/>
            </a:avLst>
          </a:prstGeom>
          <a:solidFill>
            <a:srgbClr val="EDF3FC"/>
          </a:solidFill>
          <a:ln w="9525">
            <a:solidFill>
              <a:srgbClr val="3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3159" y="2886075"/>
            <a:ext cx="1652080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3B6CB0"/>
                </a:solidFill>
                <a:latin typeface="Arial"/>
                <a:ea typeface="Microsoft YaHei"/>
              </a:rPr>
              <a:t>attoDRY</a:t>
            </a:r>
            <a:r>
              <a:rPr sz="1575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575" b="1">
                <a:solidFill>
                  <a:srgbClr val="3B6CB0"/>
                </a:solidFill>
                <a:latin typeface="Arial"/>
                <a:ea typeface="Microsoft YaHei"/>
              </a:rPr>
              <a:t>·</a:t>
            </a:r>
            <a:r>
              <a:rPr sz="1575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575" b="1">
                <a:solidFill>
                  <a:srgbClr val="3B6CB0"/>
                </a:solidFill>
                <a:latin typeface="Arial"/>
                <a:ea typeface="Microsoft YaHei"/>
              </a:rPr>
              <a:t>T</a:t>
            </a:r>
            <a:r>
              <a:rPr sz="1575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575" b="1">
                <a:solidFill>
                  <a:srgbClr val="3B6CB0"/>
                </a:solidFill>
                <a:latin typeface="Arial"/>
                <a:ea typeface="Microsoft YaHei"/>
              </a:rPr>
              <a:t>/</a:t>
            </a:r>
            <a:r>
              <a:rPr sz="1575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575" b="1">
                <a:solidFill>
                  <a:srgbClr val="3B6CB0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34325" y="3381375"/>
            <a:ext cx="1743075" cy="952500"/>
          </a:xfrm>
          <a:prstGeom prst="roundRect">
            <a:avLst>
              <a:gd name="adj" fmla="val 12000"/>
            </a:avLst>
          </a:prstGeom>
          <a:solidFill>
            <a:srgbClr val="EDF3FC"/>
          </a:solidFill>
          <a:ln w="14287">
            <a:solidFill>
              <a:srgbClr val="3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39125" y="3724275"/>
            <a:ext cx="1133475" cy="228600"/>
          </a:xfrm>
          <a:prstGeom prst="roundRect">
            <a:avLst>
              <a:gd name="adj" fmla="val 16666"/>
            </a:avLst>
          </a:prstGeom>
          <a:solidFill>
            <a:srgbClr val="3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8544401" y="3533775"/>
            <a:ext cx="0" cy="609600"/>
          </a:xfrm>
          <a:prstGeom prst="line">
            <a:avLst/>
          </a:prstGeom>
          <a:ln w="47625">
            <a:solidFill>
              <a:srgbClr val="3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8506301" y="3476625"/>
            <a:ext cx="76200" cy="7620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06301" y="4124325"/>
            <a:ext cx="76200" cy="7620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9067323" y="3533775"/>
            <a:ext cx="0" cy="609600"/>
          </a:xfrm>
          <a:prstGeom prst="line">
            <a:avLst/>
          </a:prstGeom>
          <a:ln w="47625">
            <a:solidFill>
              <a:srgbClr val="3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9029223" y="3476625"/>
            <a:ext cx="76200" cy="7620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029223" y="4124325"/>
            <a:ext cx="76200" cy="7620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115300" y="3790950"/>
            <a:ext cx="95250" cy="9525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401175" y="3790950"/>
            <a:ext cx="95250" cy="9525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7519" y="4086225"/>
            <a:ext cx="1032885" cy="2266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3B6CB0"/>
                </a:solidFill>
                <a:latin typeface="Microsoft YaHei"/>
                <a:ea typeface="Microsoft YaHei"/>
              </a:rPr>
              <a:t>样品 </a:t>
            </a:r>
            <a:r>
              <a:rPr sz="1275" b="1">
                <a:solidFill>
                  <a:srgbClr val="3B6CB0"/>
                </a:solidFill>
                <a:latin typeface="Arial"/>
                <a:ea typeface="Microsoft YaHei"/>
              </a:rPr>
              <a:t>+</a:t>
            </a:r>
            <a:r>
              <a:rPr sz="1275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275" b="1">
                <a:solidFill>
                  <a:srgbClr val="3B6CB0"/>
                </a:solidFill>
                <a:latin typeface="Arial"/>
                <a:ea typeface="Microsoft YaHei"/>
              </a:rPr>
              <a:t>gate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7524750" y="2371725"/>
            <a:ext cx="0" cy="1143000"/>
          </a:xfrm>
          <a:prstGeom prst="line">
            <a:avLst/>
          </a:prstGeom>
          <a:ln w="19050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6800850" y="2371725"/>
            <a:ext cx="723900" cy="0"/>
          </a:xfrm>
          <a:prstGeom prst="line">
            <a:avLst/>
          </a:prstGeom>
          <a:ln w="19050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6807200" y="2336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0" y="3"/>
                </a:moveTo>
                <a:lnTo>
                  <a:pt x="6" y="6"/>
                </a:lnTo>
                <a:lnTo>
                  <a:pt x="6" y="0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229225" y="2076450"/>
            <a:ext cx="1571625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29917" y="2235279"/>
            <a:ext cx="1246440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PD</a:t>
            </a:r>
            <a:r>
              <a:rPr sz="14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·</a:t>
            </a:r>
            <a:r>
              <a:rPr sz="1425" b="1">
                <a:solidFill>
                  <a:srgbClr val="168D9D"/>
                </a:solidFill>
                <a:latin typeface="Microsoft YaHei"/>
                <a:ea typeface="Microsoft YaHei"/>
              </a:rPr>
              <a:t> 功率读回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3219450" y="3286125"/>
            <a:ext cx="457200" cy="0"/>
          </a:xfrm>
          <a:prstGeom prst="line">
            <a:avLst/>
          </a:prstGeom>
          <a:ln w="16192">
            <a:solidFill>
              <a:srgbClr val="168D9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3225800" y="3251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0" y="3"/>
                </a:moveTo>
                <a:lnTo>
                  <a:pt x="6" y="6"/>
                </a:lnTo>
                <a:lnTo>
                  <a:pt x="6" y="0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38550" y="1971675"/>
            <a:ext cx="1209675" cy="2266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2758C"/>
                </a:solidFill>
                <a:latin typeface="Microsoft YaHei"/>
                <a:ea typeface="Microsoft YaHei"/>
              </a:rPr>
              <a:t>光源与参考光路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38550" y="2190273"/>
            <a:ext cx="1209675" cy="2266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2758C"/>
                </a:solidFill>
                <a:latin typeface="Microsoft YaHei"/>
                <a:ea typeface="Microsoft YaHei"/>
              </a:rPr>
              <a:t>由实验配置选择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115550" y="2381250"/>
            <a:ext cx="1562100" cy="581025"/>
          </a:xfrm>
          <a:prstGeom prst="roundRect">
            <a:avLst>
              <a:gd name="adj" fmla="val 16393"/>
            </a:avLst>
          </a:prstGeom>
          <a:solidFill>
            <a:srgbClr val="FFFFFF"/>
          </a:solidFill>
          <a:ln w="13334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99809" y="2536745"/>
            <a:ext cx="1069781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7653CF"/>
                </a:solidFill>
                <a:latin typeface="Microsoft YaHei"/>
                <a:ea typeface="Microsoft YaHei"/>
              </a:rPr>
              <a:t>锁相 </a:t>
            </a:r>
            <a:r>
              <a:rPr sz="1575" b="1">
                <a:solidFill>
                  <a:srgbClr val="7653CF"/>
                </a:solidFill>
                <a:latin typeface="Arial"/>
                <a:ea typeface="Microsoft YaHei"/>
              </a:rPr>
              <a:t>·</a:t>
            </a:r>
            <a:r>
              <a:rPr sz="1575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575" b="1">
                <a:solidFill>
                  <a:srgbClr val="7653CF"/>
                </a:solidFill>
                <a:latin typeface="Arial"/>
                <a:ea typeface="Microsoft YaHei"/>
              </a:rPr>
              <a:t>Vxx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115550" y="3238500"/>
            <a:ext cx="1562100" cy="581025"/>
          </a:xfrm>
          <a:prstGeom prst="roundRect">
            <a:avLst>
              <a:gd name="adj" fmla="val 16393"/>
            </a:avLst>
          </a:prstGeom>
          <a:solidFill>
            <a:srgbClr val="FFFFFF"/>
          </a:solidFill>
          <a:ln w="13334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99125" y="3393995"/>
            <a:ext cx="1071148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7653CF"/>
                </a:solidFill>
                <a:latin typeface="Microsoft YaHei"/>
                <a:ea typeface="Microsoft YaHei"/>
              </a:rPr>
              <a:t>锁相 </a:t>
            </a:r>
            <a:r>
              <a:rPr sz="1575" b="1">
                <a:solidFill>
                  <a:srgbClr val="7653CF"/>
                </a:solidFill>
                <a:latin typeface="Arial"/>
                <a:ea typeface="Microsoft YaHei"/>
              </a:rPr>
              <a:t>·</a:t>
            </a:r>
            <a:r>
              <a:rPr sz="1575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575" b="1">
                <a:solidFill>
                  <a:srgbClr val="7653CF"/>
                </a:solidFill>
                <a:latin typeface="Arial"/>
                <a:ea typeface="Microsoft YaHei"/>
              </a:rPr>
              <a:t>Vxy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115550" y="4391025"/>
            <a:ext cx="1562100" cy="657225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99979" y="4467225"/>
            <a:ext cx="1069441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8D9D"/>
                </a:solidFill>
                <a:latin typeface="Arial"/>
                <a:ea typeface="Microsoft YaHei"/>
              </a:rPr>
              <a:t>BVPE</a:t>
            </a: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 锁相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96550" y="4752975"/>
            <a:ext cx="876300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光生信号读出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791700" y="3514725"/>
            <a:ext cx="142875" cy="0"/>
          </a:xfrm>
          <a:prstGeom prst="line">
            <a:avLst/>
          </a:prstGeom>
          <a:ln w="1905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934575" y="2676525"/>
            <a:ext cx="0" cy="838200"/>
          </a:xfrm>
          <a:prstGeom prst="line">
            <a:avLst/>
          </a:prstGeom>
          <a:ln w="1905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934575" y="2676525"/>
            <a:ext cx="180975" cy="0"/>
          </a:xfrm>
          <a:prstGeom prst="line">
            <a:avLst/>
          </a:prstGeom>
          <a:ln w="1905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10033000" y="2641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6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9791700" y="3714750"/>
            <a:ext cx="190500" cy="0"/>
          </a:xfrm>
          <a:prstGeom prst="line">
            <a:avLst/>
          </a:prstGeom>
          <a:ln w="1905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982200" y="3524250"/>
            <a:ext cx="0" cy="190500"/>
          </a:xfrm>
          <a:prstGeom prst="line">
            <a:avLst/>
          </a:prstGeom>
          <a:ln w="1905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982200" y="3524250"/>
            <a:ext cx="133350" cy="0"/>
          </a:xfrm>
          <a:prstGeom prst="line">
            <a:avLst/>
          </a:prstGeom>
          <a:ln w="1905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10033000" y="34798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6" y="4"/>
                </a:moveTo>
                <a:lnTo>
                  <a:pt x="0" y="0"/>
                </a:lnTo>
                <a:lnTo>
                  <a:pt x="0" y="7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9791700" y="3971925"/>
            <a:ext cx="114300" cy="0"/>
          </a:xfrm>
          <a:prstGeom prst="line">
            <a:avLst/>
          </a:prstGeom>
          <a:ln w="19050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906000" y="3971925"/>
            <a:ext cx="0" cy="752475"/>
          </a:xfrm>
          <a:prstGeom prst="line">
            <a:avLst/>
          </a:prstGeom>
          <a:ln w="19050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906000" y="4724400"/>
            <a:ext cx="209550" cy="0"/>
          </a:xfrm>
          <a:prstGeom prst="line">
            <a:avLst/>
          </a:prstGeom>
          <a:ln w="19050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10033000" y="4686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6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4829175" y="3829050"/>
            <a:ext cx="0" cy="1571625"/>
          </a:xfrm>
          <a:prstGeom prst="line">
            <a:avLst/>
          </a:prstGeom>
          <a:ln w="19050">
            <a:solidFill>
              <a:srgbClr val="BC7D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829175" y="5400675"/>
            <a:ext cx="6000750" cy="0"/>
          </a:xfrm>
          <a:prstGeom prst="line">
            <a:avLst/>
          </a:prstGeom>
          <a:ln w="19050">
            <a:solidFill>
              <a:srgbClr val="BC7D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29925" y="5048250"/>
            <a:ext cx="0" cy="352425"/>
          </a:xfrm>
          <a:prstGeom prst="line">
            <a:avLst/>
          </a:prstGeom>
          <a:ln w="19050">
            <a:solidFill>
              <a:srgbClr val="BC7D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reeform 80"/>
          <p:cNvSpPr/>
          <p:nvPr/>
        </p:nvSpPr>
        <p:spPr>
          <a:xfrm>
            <a:off x="10795000" y="5054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0" y="6"/>
                </a:lnTo>
                <a:lnTo>
                  <a:pt x="6" y="6"/>
                </a:lnTo>
                <a:close/>
              </a:path>
            </a:pathLst>
          </a:cu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715000" y="5476875"/>
            <a:ext cx="2897925" cy="240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C7D1D"/>
                </a:solidFill>
                <a:latin typeface="Arial"/>
                <a:ea typeface="Microsoft YaHei"/>
              </a:rPr>
              <a:t>chopper</a:t>
            </a:r>
            <a:r>
              <a:rPr sz="13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BC7D1D"/>
                </a:solidFill>
                <a:latin typeface="Arial"/>
                <a:ea typeface="Microsoft YaHei"/>
              </a:rPr>
              <a:t>TTL</a:t>
            </a:r>
            <a:r>
              <a:rPr sz="13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BC7D1D"/>
                </a:solidFill>
                <a:latin typeface="Arial"/>
                <a:ea typeface="Microsoft YaHei"/>
              </a:rPr>
              <a:t>/</a:t>
            </a:r>
            <a:r>
              <a:rPr sz="13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BC7D1D"/>
                </a:solidFill>
                <a:latin typeface="Arial"/>
                <a:ea typeface="Microsoft YaHei"/>
              </a:rPr>
              <a:t>REF</a:t>
            </a:r>
            <a:r>
              <a:rPr sz="13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BC7D1D"/>
                </a:solidFill>
                <a:latin typeface="Arial"/>
                <a:ea typeface="Microsoft YaHei"/>
              </a:rPr>
              <a:t>→</a:t>
            </a:r>
            <a:r>
              <a:rPr sz="13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BC7D1D"/>
                </a:solidFill>
                <a:latin typeface="Arial"/>
                <a:ea typeface="Microsoft YaHei"/>
              </a:rPr>
              <a:t>BVPE</a:t>
            </a:r>
            <a:r>
              <a:rPr sz="1350" b="1">
                <a:solidFill>
                  <a:srgbClr val="BC7D1D"/>
                </a:solidFill>
                <a:latin typeface="Microsoft YaHei"/>
                <a:ea typeface="Microsoft YaHei"/>
              </a:rPr>
              <a:t> 锁相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753350" y="4857750"/>
            <a:ext cx="18478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3334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988589" y="4945141"/>
            <a:ext cx="1453571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7653CF"/>
                </a:solidFill>
                <a:latin typeface="Arial"/>
                <a:ea typeface="Microsoft YaHei"/>
              </a:rPr>
              <a:t>2400</a:t>
            </a:r>
            <a:r>
              <a:rPr sz="1425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7653CF"/>
                </a:solidFill>
                <a:latin typeface="Arial"/>
                <a:ea typeface="Microsoft YaHei"/>
              </a:rPr>
              <a:t>→</a:t>
            </a:r>
            <a:r>
              <a:rPr sz="1425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7653CF"/>
                </a:solidFill>
                <a:latin typeface="Arial"/>
                <a:ea typeface="Microsoft YaHei"/>
              </a:rPr>
              <a:t>Vg</a:t>
            </a:r>
            <a:r>
              <a:rPr sz="1425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7653CF"/>
                </a:solidFill>
                <a:latin typeface="Arial"/>
                <a:ea typeface="Microsoft YaHei"/>
              </a:rPr>
              <a:t>/</a:t>
            </a:r>
            <a:r>
              <a:rPr sz="1425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425" b="1">
                <a:solidFill>
                  <a:srgbClr val="7653CF"/>
                </a:solidFill>
                <a:latin typeface="Arial"/>
                <a:ea typeface="Microsoft YaHei"/>
              </a:rPr>
              <a:t>Ig</a:t>
            </a:r>
          </a:p>
        </p:txBody>
      </p:sp>
      <p:cxnSp>
        <p:nvCxnSpPr>
          <p:cNvPr id="85" name="Connector 84"/>
          <p:cNvCxnSpPr/>
          <p:nvPr/>
        </p:nvCxnSpPr>
        <p:spPr>
          <a:xfrm flipV="1">
            <a:off x="8686800" y="4572000"/>
            <a:ext cx="0" cy="285750"/>
          </a:xfrm>
          <a:prstGeom prst="line">
            <a:avLst/>
          </a:prstGeom>
          <a:ln w="1905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8648700" y="45720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0"/>
                </a:moveTo>
                <a:lnTo>
                  <a:pt x="0" y="7"/>
                </a:lnTo>
                <a:lnTo>
                  <a:pt x="6" y="7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514350" y="5886450"/>
            <a:ext cx="11163300" cy="514350"/>
          </a:xfrm>
          <a:prstGeom prst="roundRect">
            <a:avLst>
              <a:gd name="adj" fmla="val 1666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95325" y="6000750"/>
            <a:ext cx="7264012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Arial"/>
                <a:ea typeface="Microsoft YaHei"/>
              </a:rPr>
              <a:t>Hall</a:t>
            </a: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 与 </a:t>
            </a:r>
            <a:r>
              <a:rPr sz="1575" b="1">
                <a:solidFill>
                  <a:srgbClr val="168D9D"/>
                </a:solidFill>
                <a:latin typeface="Arial"/>
                <a:ea typeface="Microsoft YaHei"/>
              </a:rPr>
              <a:t>BVPE</a:t>
            </a: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 按测量阶段使用接线配置；电激励与参考连接见后续测量链路页。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523875" y="6619875"/>
            <a:ext cx="2605738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非线性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Hall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×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BVPE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系统能力与应用场景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58C"/>
                </a:solidFill>
                <a:latin typeface="Arial"/>
                <a:ea typeface="Microsoft YaHei"/>
              </a:rPr>
              <a:t>05/19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95275"/>
            <a:ext cx="1985390" cy="1733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05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DISTRIBUTED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676275"/>
            <a:ext cx="7053578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中央派发实验阶段，</a:t>
            </a:r>
            <a:r>
              <a:rPr sz="2700" b="1">
                <a:solidFill>
                  <a:srgbClr val="11233E"/>
                </a:solidFill>
                <a:latin typeface="Arial"/>
                <a:ea typeface="Microsoft YaHei"/>
              </a:rPr>
              <a:t>PC</a:t>
            </a: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2700" b="1">
                <a:solidFill>
                  <a:srgbClr val="11233E"/>
                </a:solidFill>
                <a:latin typeface="Arial"/>
                <a:ea typeface="Microsoft YaHei"/>
              </a:rPr>
              <a:t>Agent</a:t>
            </a: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 执行本地动作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47775"/>
            <a:ext cx="7289043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Windows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PC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主动连接中央：跨局域网或专用网络组合仪器，无需以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SSH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作为运行前提。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05325" y="1847850"/>
            <a:ext cx="3181350" cy="952500"/>
          </a:xfrm>
          <a:prstGeom prst="roundRect">
            <a:avLst>
              <a:gd name="adj" fmla="val 10000"/>
            </a:avLst>
          </a:prstGeom>
          <a:solidFill>
            <a:srgbClr val="F1ECFC"/>
          </a:solidFill>
          <a:ln w="13334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35592" y="1971675"/>
            <a:ext cx="2197014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7653CF"/>
                </a:solidFill>
                <a:latin typeface="Microsoft YaHei"/>
                <a:ea typeface="Microsoft YaHei"/>
              </a:rPr>
              <a:t>中央服务 </a:t>
            </a:r>
            <a:r>
              <a:rPr sz="2025" b="1">
                <a:solidFill>
                  <a:srgbClr val="7653CF"/>
                </a:solidFill>
                <a:latin typeface="Arial"/>
                <a:ea typeface="Microsoft YaHei"/>
              </a:rPr>
              <a:t>/</a:t>
            </a:r>
            <a:r>
              <a:rPr sz="2025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2025" b="1">
                <a:solidFill>
                  <a:srgbClr val="7653CF"/>
                </a:solidFill>
                <a:latin typeface="Arial"/>
                <a:ea typeface="Microsoft YaHei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3384" y="2347436"/>
            <a:ext cx="216143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实验计划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·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资源锁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·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命令与证据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4375" y="3743325"/>
            <a:ext cx="34480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1178" y="3867150"/>
            <a:ext cx="1650643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20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2025" b="1">
                <a:solidFill>
                  <a:srgbClr val="168D9D"/>
                </a:solidFill>
                <a:latin typeface="Arial"/>
                <a:ea typeface="Microsoft YaHei"/>
              </a:rPr>
              <a:t>A</a:t>
            </a:r>
            <a:r>
              <a:rPr sz="20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2025" b="1">
                <a:solidFill>
                  <a:srgbClr val="168D9D"/>
                </a:solidFill>
                <a:latin typeface="Arial"/>
                <a:ea typeface="Microsoft YaHei"/>
              </a:rPr>
              <a:t>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5641" y="4242911"/>
            <a:ext cx="1121717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光源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光谱驱动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3241" y="4448651"/>
            <a:ext cx="1426517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本地数据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执行日志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9575" y="3743325"/>
            <a:ext cx="34480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7885" y="3867150"/>
            <a:ext cx="1647629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20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2025" b="1">
                <a:solidFill>
                  <a:srgbClr val="168D9D"/>
                </a:solidFill>
                <a:latin typeface="Arial"/>
                <a:ea typeface="Microsoft YaHei"/>
              </a:rPr>
              <a:t>B</a:t>
            </a:r>
            <a:r>
              <a:rPr sz="20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2025" b="1">
                <a:solidFill>
                  <a:srgbClr val="168D9D"/>
                </a:solidFill>
                <a:latin typeface="Arial"/>
                <a:ea typeface="Microsoft YaHei"/>
              </a:rP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2882" y="4242911"/>
            <a:ext cx="1557635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环境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电学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光学驱动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8441" y="4448651"/>
            <a:ext cx="1426517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本地数据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执行日志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419350" y="2324100"/>
            <a:ext cx="2076450" cy="0"/>
          </a:xfrm>
          <a:prstGeom prst="line">
            <a:avLst/>
          </a:prstGeom>
          <a:ln w="23812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19350" y="2324100"/>
            <a:ext cx="0" cy="1419225"/>
          </a:xfrm>
          <a:prstGeom prst="line">
            <a:avLst/>
          </a:prstGeom>
          <a:ln w="23812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2374900" y="36576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3" y="7"/>
                </a:move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686675" y="2324100"/>
            <a:ext cx="2066925" cy="0"/>
          </a:xfrm>
          <a:prstGeom prst="line">
            <a:avLst/>
          </a:prstGeom>
          <a:ln w="23812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53600" y="2324100"/>
            <a:ext cx="0" cy="1419225"/>
          </a:xfrm>
          <a:prstGeom prst="line">
            <a:avLst/>
          </a:prstGeom>
          <a:ln w="23812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9715500" y="36576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6" y="0"/>
                </a:lnTo>
                <a:lnTo>
                  <a:pt x="0" y="0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162425" y="4314825"/>
            <a:ext cx="885825" cy="0"/>
          </a:xfrm>
          <a:prstGeom prst="line">
            <a:avLst/>
          </a:prstGeom>
          <a:ln w="23812">
            <a:solidFill>
              <a:srgbClr val="2785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048250" y="2800350"/>
            <a:ext cx="0" cy="1514475"/>
          </a:xfrm>
          <a:prstGeom prst="line">
            <a:avLst/>
          </a:prstGeom>
          <a:ln w="23812">
            <a:solidFill>
              <a:srgbClr val="2785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5003800" y="27940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4" y="0"/>
                </a:moveTo>
                <a:lnTo>
                  <a:pt x="0" y="7"/>
                </a:lnTo>
                <a:lnTo>
                  <a:pt x="7" y="7"/>
                </a:lnTo>
                <a:close/>
              </a:path>
            </a:pathLst>
          </a:custGeom>
          <a:solidFill>
            <a:srgbClr val="27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H="1">
            <a:off x="7143750" y="4314825"/>
            <a:ext cx="885825" cy="0"/>
          </a:xfrm>
          <a:prstGeom prst="line">
            <a:avLst/>
          </a:prstGeom>
          <a:ln w="23812">
            <a:solidFill>
              <a:srgbClr val="2785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43750" y="2800350"/>
            <a:ext cx="0" cy="1514475"/>
          </a:xfrm>
          <a:prstGeom prst="line">
            <a:avLst/>
          </a:prstGeom>
          <a:ln w="23812">
            <a:solidFill>
              <a:srgbClr val="2785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7099300" y="27940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3" y="0"/>
                </a:moveTo>
                <a:lnTo>
                  <a:pt x="0" y="7"/>
                </a:lnTo>
                <a:lnTo>
                  <a:pt x="7" y="7"/>
                </a:lnTo>
                <a:close/>
              </a:path>
            </a:pathLst>
          </a:custGeom>
          <a:solidFill>
            <a:srgbClr val="27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575" y="2705100"/>
            <a:ext cx="1331174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7653CF"/>
                </a:solidFill>
                <a:latin typeface="Arial"/>
                <a:ea typeface="Microsoft YaHei"/>
              </a:rPr>
              <a:t>PC</a:t>
            </a:r>
            <a:r>
              <a:rPr sz="1725" b="1">
                <a:solidFill>
                  <a:srgbClr val="7653CF"/>
                </a:solidFill>
                <a:latin typeface="Microsoft YaHei"/>
                <a:ea typeface="Microsoft YaHei"/>
              </a:rPr>
              <a:t> 主动轮询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575" y="3000851"/>
            <a:ext cx="2047875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7653CF"/>
                </a:solidFill>
                <a:latin typeface="Microsoft YaHei"/>
                <a:ea typeface="Microsoft YaHei"/>
              </a:rPr>
              <a:t>接收批准的阶段命令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0150" y="2705100"/>
            <a:ext cx="2218171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78565"/>
                </a:solidFill>
                <a:latin typeface="Microsoft YaHei"/>
                <a:ea typeface="Microsoft YaHei"/>
              </a:rPr>
              <a:t>心跳 </a:t>
            </a:r>
            <a:r>
              <a:rPr sz="1725" b="1">
                <a:solidFill>
                  <a:srgbClr val="278565"/>
                </a:solidFill>
                <a:latin typeface="Arial"/>
                <a:ea typeface="Microsoft YaHei"/>
              </a:rPr>
              <a:t>/</a:t>
            </a:r>
            <a:r>
              <a:rPr sz="1725" b="1">
                <a:solidFill>
                  <a:srgbClr val="278565"/>
                </a:solidFill>
                <a:latin typeface="Microsoft YaHei"/>
                <a:ea typeface="Microsoft YaHei"/>
              </a:rPr>
              <a:t> 状态 </a:t>
            </a:r>
            <a:r>
              <a:rPr sz="1725" b="1">
                <a:solidFill>
                  <a:srgbClr val="278565"/>
                </a:solidFill>
                <a:latin typeface="Arial"/>
                <a:ea typeface="Microsoft YaHei"/>
              </a:rPr>
              <a:t>/</a:t>
            </a:r>
            <a:r>
              <a:rPr sz="1725" b="1">
                <a:solidFill>
                  <a:srgbClr val="278565"/>
                </a:solidFill>
                <a:latin typeface="Microsoft YaHei"/>
                <a:ea typeface="Microsoft YaHei"/>
              </a:rPr>
              <a:t> 原始数据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0150" y="3000851"/>
            <a:ext cx="228706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78565"/>
                </a:solidFill>
                <a:latin typeface="Microsoft YaHei"/>
                <a:ea typeface="Microsoft YaHei"/>
              </a:rPr>
              <a:t>经 </a:t>
            </a:r>
            <a:r>
              <a:rPr sz="1725" b="1">
                <a:solidFill>
                  <a:srgbClr val="278565"/>
                </a:solidFill>
                <a:latin typeface="Arial"/>
                <a:ea typeface="Microsoft YaHei"/>
              </a:rPr>
              <a:t>HTTP(S)</a:t>
            </a:r>
            <a:r>
              <a:rPr sz="1725" b="1">
                <a:solidFill>
                  <a:srgbClr val="278565"/>
                </a:solidFill>
                <a:latin typeface="Microsoft YaHei"/>
                <a:ea typeface="Microsoft YaHei"/>
              </a:rPr>
              <a:t> 返回中央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57750" y="4914900"/>
            <a:ext cx="2476500" cy="628650"/>
          </a:xfrm>
          <a:prstGeom prst="roundRect">
            <a:avLst>
              <a:gd name="adj" fmla="val 15151"/>
            </a:avLst>
          </a:prstGeom>
          <a:solidFill>
            <a:srgbClr val="EDF3FC"/>
          </a:solidFill>
          <a:ln w="13334">
            <a:solidFill>
              <a:srgbClr val="3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95925" y="4991100"/>
            <a:ext cx="1276350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3B6CB0"/>
                </a:solidFill>
                <a:latin typeface="Microsoft YaHei"/>
                <a:ea typeface="Microsoft YaHei"/>
              </a:rPr>
              <a:t>共享实验身份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0551" y="5289708"/>
            <a:ext cx="1527097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campaign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run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point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4350" y="5886450"/>
            <a:ext cx="11163300" cy="514350"/>
          </a:xfrm>
          <a:prstGeom prst="roundRect">
            <a:avLst>
              <a:gd name="adj" fmla="val 1666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5325" y="6000750"/>
            <a:ext cx="6808049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科研编排跨 </a:t>
            </a:r>
            <a:r>
              <a:rPr sz="1725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；设备连接留在本地；原始数据先落盘，再可靠同步。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23875" y="6619875"/>
            <a:ext cx="2605738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非线性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Hall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×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BVPE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系统能力与应用场景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58C"/>
                </a:solidFill>
                <a:latin typeface="Arial"/>
                <a:ea typeface="Microsoft YaHei"/>
              </a:rPr>
              <a:t>06/19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95275"/>
            <a:ext cx="2128018" cy="1733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06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TIMING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AND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676275"/>
            <a:ext cx="6934200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软件屏障协调实验点，物理参考决定测量相位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47775"/>
            <a:ext cx="5593463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共同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point_id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绑定条件与采集窗口；网络到达时间不承担锁相同步。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228850"/>
            <a:ext cx="51435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7653CF"/>
                </a:solidFill>
                <a:latin typeface="Microsoft YaHei"/>
                <a:ea typeface="Microsoft YaHei"/>
              </a:rPr>
              <a:t>中央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90725" y="2457450"/>
            <a:ext cx="9582150" cy="0"/>
          </a:xfrm>
          <a:prstGeom prst="line">
            <a:avLst/>
          </a:prstGeom>
          <a:ln w="19050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3400" y="3095625"/>
            <a:ext cx="624422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725" b="1">
                <a:solidFill>
                  <a:srgbClr val="168D9D"/>
                </a:solidFill>
                <a:latin typeface="Arial"/>
                <a:ea typeface="Microsoft YaHei"/>
              </a:rPr>
              <a:t>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90725" y="3324225"/>
            <a:ext cx="9582150" cy="0"/>
          </a:xfrm>
          <a:prstGeom prst="line">
            <a:avLst/>
          </a:prstGeom>
          <a:ln w="19050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3400" y="3962400"/>
            <a:ext cx="621855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725" b="1">
                <a:solidFill>
                  <a:srgbClr val="168D9D"/>
                </a:solidFill>
                <a:latin typeface="Arial"/>
                <a:ea typeface="Microsoft YaHei"/>
              </a:rPr>
              <a:t>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90725" y="4191000"/>
            <a:ext cx="9582150" cy="0"/>
          </a:xfrm>
          <a:prstGeom prst="line">
            <a:avLst/>
          </a:prstGeom>
          <a:ln w="19050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3400" y="4829175"/>
            <a:ext cx="95250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BC7D1D"/>
                </a:solidFill>
                <a:latin typeface="Microsoft YaHei"/>
                <a:ea typeface="Microsoft YaHei"/>
              </a:rPr>
              <a:t>物理参考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90725" y="5057775"/>
            <a:ext cx="9582150" cy="0"/>
          </a:xfrm>
          <a:prstGeom prst="line">
            <a:avLst/>
          </a:prstGeom>
          <a:ln w="19050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9300" y="2095500"/>
            <a:ext cx="1866900" cy="514350"/>
          </a:xfrm>
          <a:prstGeom prst="roundRect">
            <a:avLst>
              <a:gd name="adj" fmla="val 18518"/>
            </a:avLst>
          </a:prstGeom>
          <a:solidFill>
            <a:srgbClr val="F1ECFC"/>
          </a:solidFill>
          <a:ln w="13334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9254" y="2224087"/>
            <a:ext cx="1363191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653CF"/>
                </a:solidFill>
                <a:latin typeface="Microsoft YaHei"/>
                <a:ea typeface="Microsoft YaHei"/>
              </a:rPr>
              <a:t>分发 </a:t>
            </a:r>
            <a:r>
              <a:rPr sz="1500" b="1">
                <a:solidFill>
                  <a:srgbClr val="7653CF"/>
                </a:solidFill>
                <a:latin typeface="Arial"/>
                <a:ea typeface="Microsoft YaHei"/>
              </a:rPr>
              <a:t>point_id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33900" y="2095500"/>
            <a:ext cx="2105025" cy="514350"/>
          </a:xfrm>
          <a:prstGeom prst="roundRect">
            <a:avLst>
              <a:gd name="adj" fmla="val 18518"/>
            </a:avLst>
          </a:prstGeom>
          <a:solidFill>
            <a:srgbClr val="F1ECFC"/>
          </a:solidFill>
          <a:ln w="13334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0319" y="2224087"/>
            <a:ext cx="1608385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653CF"/>
                </a:solidFill>
                <a:latin typeface="Microsoft YaHei"/>
                <a:ea typeface="Microsoft YaHei"/>
              </a:rPr>
              <a:t>汇总两端 </a:t>
            </a:r>
            <a:r>
              <a:rPr sz="1500" b="1">
                <a:solidFill>
                  <a:srgbClr val="7653CF"/>
                </a:solidFill>
                <a:latin typeface="Arial"/>
                <a:ea typeface="Microsoft YaHei"/>
              </a:rPr>
              <a:t>READY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86650" y="2095500"/>
            <a:ext cx="2095500" cy="514350"/>
          </a:xfrm>
          <a:prstGeom prst="roundRect">
            <a:avLst>
              <a:gd name="adj" fmla="val 18518"/>
            </a:avLst>
          </a:prstGeom>
          <a:solidFill>
            <a:srgbClr val="F1ECFC"/>
          </a:solidFill>
          <a:ln w="13334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2900" y="2224087"/>
            <a:ext cx="1219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653CF"/>
                </a:solidFill>
                <a:latin typeface="Microsoft YaHei"/>
                <a:ea typeface="Microsoft YaHei"/>
              </a:rPr>
              <a:t>启动采集阶段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96500" y="2095500"/>
            <a:ext cx="1457325" cy="514350"/>
          </a:xfrm>
          <a:prstGeom prst="roundRect">
            <a:avLst>
              <a:gd name="adj" fmla="val 18518"/>
            </a:avLst>
          </a:prstGeom>
          <a:solidFill>
            <a:srgbClr val="F1ECFC"/>
          </a:solidFill>
          <a:ln w="13334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2725" y="2230516"/>
            <a:ext cx="981075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7653CF"/>
                </a:solidFill>
                <a:latin typeface="Microsoft YaHei"/>
                <a:ea typeface="Microsoft YaHei"/>
              </a:rPr>
              <a:t>归档与评估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1725" y="2962275"/>
            <a:ext cx="2352675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1416" y="3090862"/>
            <a:ext cx="1769491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设置光源 </a:t>
            </a:r>
            <a:r>
              <a:rPr sz="1500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 光谱条件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19675" y="2962275"/>
            <a:ext cx="1619250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1999" y="3097291"/>
            <a:ext cx="1350801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68D9D"/>
                </a:solidFill>
                <a:latin typeface="Microsoft YaHei"/>
                <a:ea typeface="Microsoft YaHei"/>
              </a:rPr>
              <a:t>读回并 </a:t>
            </a: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READY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86650" y="2962275"/>
            <a:ext cx="2714625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7316" y="3090862"/>
            <a:ext cx="1769491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参考光谱 </a:t>
            </a:r>
            <a:r>
              <a:rPr sz="1500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 光学采集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1725" y="3829050"/>
            <a:ext cx="2352675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73191" y="3957637"/>
            <a:ext cx="2025941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设置 </a:t>
            </a:r>
            <a:r>
              <a:rPr sz="1500" b="1">
                <a:solidFill>
                  <a:srgbClr val="168D9D"/>
                </a:solidFill>
                <a:latin typeface="Arial"/>
                <a:ea typeface="Microsoft YaHei"/>
              </a:rPr>
              <a:t>T</a:t>
            </a: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500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500" b="1">
                <a:solidFill>
                  <a:srgbClr val="168D9D"/>
                </a:solidFill>
                <a:latin typeface="Arial"/>
                <a:ea typeface="Microsoft YaHei"/>
              </a:rPr>
              <a:t>B</a:t>
            </a: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500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500" b="1">
                <a:solidFill>
                  <a:srgbClr val="168D9D"/>
                </a:solidFill>
                <a:latin typeface="Arial"/>
                <a:ea typeface="Microsoft YaHei"/>
              </a:rPr>
              <a:t>Vg</a:t>
            </a: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 并稳定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19675" y="3829050"/>
            <a:ext cx="1619250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91999" y="3964066"/>
            <a:ext cx="1350801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68D9D"/>
                </a:solidFill>
                <a:latin typeface="Microsoft YaHei"/>
                <a:ea typeface="Microsoft YaHei"/>
              </a:rPr>
              <a:t>读回并 </a:t>
            </a:r>
            <a:r>
              <a:rPr sz="1425" b="1">
                <a:solidFill>
                  <a:srgbClr val="168D9D"/>
                </a:solidFill>
                <a:latin typeface="Arial"/>
                <a:ea typeface="Microsoft YaHei"/>
              </a:rPr>
              <a:t>READY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86650" y="3829050"/>
            <a:ext cx="2714625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8675" y="3957637"/>
            <a:ext cx="2086774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输运 </a:t>
            </a:r>
            <a:r>
              <a:rPr sz="1500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500" b="1">
                <a:solidFill>
                  <a:srgbClr val="168D9D"/>
                </a:solidFill>
                <a:latin typeface="Arial"/>
                <a:ea typeface="Microsoft YaHei"/>
              </a:rPr>
              <a:t>BVPE</a:t>
            </a: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500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500" b="1">
                <a:solidFill>
                  <a:srgbClr val="168D9D"/>
                </a:solidFill>
                <a:latin typeface="Arial"/>
                <a:ea typeface="Microsoft YaHei"/>
              </a:rPr>
              <a:t>PD</a:t>
            </a: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 采集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058025" y="1866900"/>
            <a:ext cx="0" cy="2676525"/>
          </a:xfrm>
          <a:prstGeom prst="line">
            <a:avLst/>
          </a:prstGeom>
          <a:ln w="19050">
            <a:solidFill>
              <a:srgbClr val="7653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48462" y="4533900"/>
            <a:ext cx="800100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7653CF"/>
                </a:solidFill>
                <a:latin typeface="Microsoft YaHei"/>
                <a:ea typeface="Microsoft YaHei"/>
              </a:rPr>
              <a:t>阶段屏障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333625" y="5076825"/>
            <a:ext cx="9029700" cy="0"/>
          </a:xfrm>
          <a:prstGeom prst="line">
            <a:avLst/>
          </a:prstGeom>
          <a:ln w="28575">
            <a:solidFill>
              <a:srgbClr val="BC7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11277600" y="50419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47925" y="5219700"/>
            <a:ext cx="4995653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BC7D1D"/>
                </a:solidFill>
                <a:latin typeface="Microsoft YaHei"/>
                <a:ea typeface="Microsoft YaHei"/>
              </a:rPr>
              <a:t>电输运：</a:t>
            </a:r>
            <a:r>
              <a:rPr sz="1725" b="1">
                <a:solidFill>
                  <a:srgbClr val="BC7D1D"/>
                </a:solidFill>
                <a:latin typeface="Arial"/>
                <a:ea typeface="Microsoft YaHei"/>
              </a:rPr>
              <a:t>fI</a:t>
            </a:r>
            <a:r>
              <a:rPr sz="1725" b="1">
                <a:solidFill>
                  <a:srgbClr val="BC7D1D"/>
                </a:solidFill>
                <a:latin typeface="Microsoft YaHei"/>
                <a:ea typeface="Microsoft YaHei"/>
              </a:rPr>
              <a:t> 参考线     </a:t>
            </a:r>
            <a:r>
              <a:rPr sz="1725" b="1">
                <a:solidFill>
                  <a:srgbClr val="BC7D1D"/>
                </a:solidFill>
                <a:latin typeface="Arial"/>
                <a:ea typeface="Microsoft YaHei"/>
              </a:rPr>
              <a:t>|</a:t>
            </a:r>
            <a:r>
              <a:rPr sz="1725" b="1">
                <a:solidFill>
                  <a:srgbClr val="BC7D1D"/>
                </a:solidFill>
                <a:latin typeface="Microsoft YaHei"/>
                <a:ea typeface="Microsoft YaHei"/>
              </a:rPr>
              <a:t>     光生测量：</a:t>
            </a:r>
            <a:r>
              <a:rPr sz="1725" b="1">
                <a:solidFill>
                  <a:srgbClr val="BC7D1D"/>
                </a:solidFill>
                <a:latin typeface="Arial"/>
                <a:ea typeface="Microsoft YaHei"/>
              </a:rPr>
              <a:t>fchop</a:t>
            </a:r>
            <a:r>
              <a:rPr sz="1725" b="1">
                <a:solidFill>
                  <a:srgbClr val="BC7D1D"/>
                </a:solidFill>
                <a:latin typeface="Microsoft YaHei"/>
                <a:ea typeface="Microsoft YaHei"/>
              </a:rPr>
              <a:t> 参考线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4350" y="5886450"/>
            <a:ext cx="11163300" cy="514350"/>
          </a:xfrm>
          <a:prstGeom prst="roundRect">
            <a:avLst>
              <a:gd name="adj" fmla="val 1666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5325" y="6000750"/>
            <a:ext cx="7677150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每个采集窗口记录实际条件、时间戳和锁定状态；需要严格同时采样时组合硬件触发。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23875" y="6619875"/>
            <a:ext cx="2605738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非线性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Hall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×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BVPE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系统能力与应用场景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58C"/>
                </a:solidFill>
                <a:latin typeface="Arial"/>
                <a:ea typeface="Microsoft YaHei"/>
              </a:rPr>
              <a:t>07/19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95275"/>
            <a:ext cx="1346434" cy="1733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07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676275"/>
            <a:ext cx="6934200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实验前，把目标、设备与参数组织成一份计划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47775"/>
            <a:ext cx="5867400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设备清单是可复用配置；样品、接线与本次扫描条件形成实验准备记录。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4350" y="1905000"/>
            <a:ext cx="3467100" cy="3324225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4350" y="2066925"/>
            <a:ext cx="38100" cy="314325"/>
          </a:xfrm>
          <a:prstGeom prst="rect">
            <a:avLst/>
          </a:pr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850" y="2057400"/>
            <a:ext cx="1882899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设备配置 </a:t>
            </a:r>
            <a:r>
              <a:rPr sz="1800" b="1">
                <a:solidFill>
                  <a:srgbClr val="168D9D"/>
                </a:solidFill>
                <a:latin typeface="Arial"/>
                <a:ea typeface="Microsoft YaHei"/>
              </a:rPr>
              <a:t>·</a:t>
            </a: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 可复用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495550"/>
            <a:ext cx="2402374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PC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A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PC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B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与设备归属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2791301"/>
            <a:ext cx="226695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仪器地址、驱动与能力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3087052"/>
            <a:ext cx="2205763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锁相输入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输出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参考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382803"/>
            <a:ext cx="226695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光源、偏振与功率标定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3678554"/>
            <a:ext cx="2047875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现用脚本与操作协议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925" y="1905000"/>
            <a:ext cx="3467100" cy="3324225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2925" y="2066925"/>
            <a:ext cx="38100" cy="314325"/>
          </a:xfrm>
          <a:prstGeom prst="rect">
            <a:avLst/>
          </a:pr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3425" y="2057400"/>
            <a:ext cx="2111499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653CF"/>
                </a:solidFill>
                <a:latin typeface="Microsoft YaHei"/>
                <a:ea typeface="Microsoft YaHei"/>
              </a:rPr>
              <a:t>实验配置 </a:t>
            </a:r>
            <a:r>
              <a:rPr sz="1800" b="1">
                <a:solidFill>
                  <a:srgbClr val="7653CF"/>
                </a:solidFill>
                <a:latin typeface="Arial"/>
                <a:ea typeface="Microsoft YaHei"/>
              </a:rPr>
              <a:t>·</a:t>
            </a:r>
            <a:r>
              <a:rPr sz="1800" b="1">
                <a:solidFill>
                  <a:srgbClr val="7653CF"/>
                </a:solidFill>
                <a:latin typeface="Microsoft YaHei"/>
                <a:ea typeface="Microsoft YaHei"/>
              </a:rPr>
              <a:t> 每次记录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3425" y="2495550"/>
            <a:ext cx="1957699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样品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ID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与接线版本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3425" y="2791301"/>
            <a:ext cx="2466128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非线性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Hall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BVPE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3425" y="3087052"/>
            <a:ext cx="224010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T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、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B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、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Vg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与扫描顺序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3425" y="3382803"/>
            <a:ext cx="2424838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激励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光功率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偏振参数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3425" y="3678554"/>
            <a:ext cx="226695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对照、重复与结束状态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1500" y="1905000"/>
            <a:ext cx="3486150" cy="3324225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91500" y="2066925"/>
            <a:ext cx="38100" cy="314325"/>
          </a:xfrm>
          <a:prstGeom prst="rect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2000" y="2057400"/>
            <a:ext cx="2340099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C7D1D"/>
                </a:solidFill>
                <a:latin typeface="Microsoft YaHei"/>
                <a:ea typeface="Microsoft YaHei"/>
              </a:rPr>
              <a:t>中央输出 </a:t>
            </a:r>
            <a:r>
              <a:rPr sz="1800" b="1">
                <a:solidFill>
                  <a:srgbClr val="BC7D1D"/>
                </a:solidFill>
                <a:latin typeface="Arial"/>
                <a:ea typeface="Microsoft YaHei"/>
              </a:rPr>
              <a:t>·</a:t>
            </a:r>
            <a:r>
              <a:rPr sz="1800" b="1">
                <a:solidFill>
                  <a:srgbClr val="BC7D1D"/>
                </a:solidFill>
                <a:latin typeface="Microsoft YaHei"/>
                <a:ea typeface="Microsoft YaHei"/>
              </a:rPr>
              <a:t> 可执行计划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0" y="2495550"/>
            <a:ext cx="2047875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有序阶段与依赖关系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0" y="2791301"/>
            <a:ext cx="1790397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各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PC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的设备动作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0" y="3087052"/>
            <a:ext cx="226695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读回、稳定与采集条件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0" y="3382803"/>
            <a:ext cx="2047875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数据质量与异常处理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0" y="3678554"/>
            <a:ext cx="226695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需要操作者执行的步骤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4350" y="5886450"/>
            <a:ext cx="11163300" cy="514350"/>
          </a:xfrm>
          <a:prstGeom prst="roundRect">
            <a:avLst>
              <a:gd name="adj" fmla="val 1666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325" y="6000750"/>
            <a:ext cx="7443452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描述</a:t>
            </a:r>
            <a:r>
              <a:rPr sz="1725" b="1">
                <a:solidFill>
                  <a:srgbClr val="168D9D"/>
                </a:solidFill>
                <a:latin typeface="Arial"/>
                <a:ea typeface="Microsoft YaHei"/>
              </a:rPr>
              <a:t>“</a:t>
            </a: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要研究什么</a:t>
            </a:r>
            <a:r>
              <a:rPr sz="1725" b="1">
                <a:solidFill>
                  <a:srgbClr val="168D9D"/>
                </a:solidFill>
                <a:latin typeface="Arial"/>
                <a:ea typeface="Microsoft YaHei"/>
              </a:rPr>
              <a:t>”</a:t>
            </a: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，再核对</a:t>
            </a:r>
            <a:r>
              <a:rPr sz="1725" b="1">
                <a:solidFill>
                  <a:srgbClr val="168D9D"/>
                </a:solidFill>
                <a:latin typeface="Arial"/>
                <a:ea typeface="Microsoft YaHei"/>
              </a:rPr>
              <a:t>“</a:t>
            </a: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设备怎么配合、每一步以什么证据判断完成</a:t>
            </a:r>
            <a:r>
              <a:rPr sz="1725" b="1">
                <a:solidFill>
                  <a:srgbClr val="168D9D"/>
                </a:solidFill>
                <a:latin typeface="Arial"/>
                <a:ea typeface="Microsoft YaHei"/>
              </a:rPr>
              <a:t>”</a:t>
            </a: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23875" y="6619875"/>
            <a:ext cx="2605738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非线性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Hall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×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BVPE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系统能力与应用场景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58C"/>
                </a:solidFill>
                <a:latin typeface="Arial"/>
                <a:ea typeface="Microsoft YaHei"/>
              </a:rPr>
              <a:t>08/19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95275"/>
            <a:ext cx="2741460" cy="1733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08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NONLINEAR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HALL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—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SIGNAL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676275"/>
            <a:ext cx="7091585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非线性 </a:t>
            </a:r>
            <a:r>
              <a:rPr sz="2700" b="1">
                <a:solidFill>
                  <a:srgbClr val="11233E"/>
                </a:solidFill>
                <a:latin typeface="Arial"/>
                <a:ea typeface="Microsoft YaHei"/>
              </a:rPr>
              <a:t>Hall</a:t>
            </a: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：两个空间通道，共用电激励参考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47775"/>
            <a:ext cx="6688856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Vxx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主锁相同时提供激励与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1f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读出；另一台测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Vxy(2f)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，后续阶段扩展其他谐波。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247900"/>
            <a:ext cx="2371725" cy="1009650"/>
          </a:xfrm>
          <a:prstGeom prst="roundRect">
            <a:avLst>
              <a:gd name="adj" fmla="val 9433"/>
            </a:avLst>
          </a:prstGeom>
          <a:solidFill>
            <a:srgbClr val="F1ECFC"/>
          </a:solidFill>
          <a:ln w="13334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436" y="2371725"/>
            <a:ext cx="1522251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653CF"/>
                </a:solidFill>
                <a:latin typeface="Arial"/>
                <a:ea typeface="Microsoft YaHei"/>
              </a:rPr>
              <a:t>Vxx</a:t>
            </a:r>
            <a:r>
              <a:rPr sz="1800" b="1">
                <a:solidFill>
                  <a:srgbClr val="7653CF"/>
                </a:solidFill>
                <a:latin typeface="Microsoft YaHei"/>
                <a:ea typeface="Microsoft YaHei"/>
              </a:rPr>
              <a:t> 锁相输出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420" y="2708910"/>
            <a:ext cx="1586284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电激励频率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fI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（内参）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475" y="2371725"/>
            <a:ext cx="1628775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4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4298" y="2495550"/>
            <a:ext cx="1255328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7653CF"/>
                </a:solidFill>
                <a:latin typeface="Microsoft YaHei"/>
                <a:ea typeface="Microsoft YaHei"/>
              </a:rPr>
              <a:t>串联电阻 </a:t>
            </a:r>
            <a:r>
              <a:rPr sz="1650" b="1">
                <a:solidFill>
                  <a:srgbClr val="7653CF"/>
                </a:solidFill>
                <a:latin typeface="Arial"/>
                <a:ea typeface="Microsoft YaHei"/>
              </a:rPr>
              <a:t>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836" y="2807017"/>
            <a:ext cx="898252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标定实际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Iω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2305050"/>
            <a:ext cx="2314575" cy="1238250"/>
          </a:xfrm>
          <a:prstGeom prst="roundRect">
            <a:avLst>
              <a:gd name="adj" fmla="val 9230"/>
            </a:avLst>
          </a:prstGeom>
          <a:solidFill>
            <a:srgbClr val="EDF3FC"/>
          </a:solidFill>
          <a:ln w="14287">
            <a:solidFill>
              <a:srgbClr val="3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19800" y="2785110"/>
            <a:ext cx="1704975" cy="228600"/>
          </a:xfrm>
          <a:prstGeom prst="roundRect">
            <a:avLst>
              <a:gd name="adj" fmla="val 16666"/>
            </a:avLst>
          </a:prstGeom>
          <a:solidFill>
            <a:srgbClr val="3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525101" y="2594610"/>
            <a:ext cx="0" cy="609600"/>
          </a:xfrm>
          <a:prstGeom prst="line">
            <a:avLst/>
          </a:prstGeom>
          <a:ln w="47625">
            <a:solidFill>
              <a:srgbClr val="3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487001" y="2537460"/>
            <a:ext cx="76200" cy="7620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7001" y="3185160"/>
            <a:ext cx="76200" cy="7620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219473" y="2594610"/>
            <a:ext cx="0" cy="609600"/>
          </a:xfrm>
          <a:prstGeom prst="line">
            <a:avLst/>
          </a:prstGeom>
          <a:ln w="47625">
            <a:solidFill>
              <a:srgbClr val="3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181373" y="2537460"/>
            <a:ext cx="76200" cy="7620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1373" y="3185160"/>
            <a:ext cx="76200" cy="7620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95975" y="2851785"/>
            <a:ext cx="95250" cy="9525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53350" y="2851785"/>
            <a:ext cx="95250" cy="9525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1412" y="3295650"/>
            <a:ext cx="1517949" cy="2266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3B6CB0"/>
                </a:solidFill>
                <a:latin typeface="Arial"/>
                <a:ea typeface="Microsoft YaHei"/>
              </a:rPr>
              <a:t>attoDRY</a:t>
            </a:r>
            <a:r>
              <a:rPr sz="1275" b="1">
                <a:solidFill>
                  <a:srgbClr val="3B6CB0"/>
                </a:solidFill>
                <a:latin typeface="Microsoft YaHei"/>
                <a:ea typeface="Microsoft YaHei"/>
              </a:rPr>
              <a:t> 中的样品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81325" y="2752725"/>
            <a:ext cx="438150" cy="0"/>
          </a:xfrm>
          <a:prstGeom prst="line">
            <a:avLst/>
          </a:prstGeom>
          <a:ln w="28575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3327400" y="27178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5048250" y="2752725"/>
            <a:ext cx="666750" cy="0"/>
          </a:xfrm>
          <a:prstGeom prst="line">
            <a:avLst/>
          </a:prstGeom>
          <a:ln w="28575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5626100" y="27178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029575" y="3371850"/>
            <a:ext cx="314325" cy="0"/>
          </a:xfrm>
          <a:prstGeom prst="line">
            <a:avLst/>
          </a:prstGeom>
          <a:ln w="1905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343900" y="3371850"/>
            <a:ext cx="0" cy="733425"/>
          </a:xfrm>
          <a:prstGeom prst="line">
            <a:avLst/>
          </a:prstGeom>
          <a:ln w="1905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076325" y="4105275"/>
            <a:ext cx="7267575" cy="0"/>
          </a:xfrm>
          <a:prstGeom prst="line">
            <a:avLst/>
          </a:prstGeom>
          <a:ln w="1905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76325" y="3257550"/>
            <a:ext cx="0" cy="847725"/>
          </a:xfrm>
          <a:prstGeom prst="line">
            <a:avLst/>
          </a:prstGeom>
          <a:ln w="1905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eform 30"/>
          <p:cNvSpPr/>
          <p:nvPr/>
        </p:nvSpPr>
        <p:spPr>
          <a:xfrm>
            <a:off x="1041400" y="32512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0"/>
                </a:moveTo>
                <a:lnTo>
                  <a:pt x="0" y="7"/>
                </a:lnTo>
                <a:lnTo>
                  <a:pt x="6" y="7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9612" y="4152900"/>
            <a:ext cx="1209675" cy="2266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7653CF"/>
                </a:solidFill>
                <a:latin typeface="Microsoft YaHei"/>
                <a:ea typeface="Microsoft YaHei"/>
              </a:rPr>
              <a:t>电激励回路返回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029575" y="2628900"/>
            <a:ext cx="523875" cy="0"/>
          </a:xfrm>
          <a:prstGeom prst="line">
            <a:avLst/>
          </a:prstGeom>
          <a:ln w="19050">
            <a:solidFill>
              <a:srgbClr val="3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53450" y="2333625"/>
            <a:ext cx="0" cy="295275"/>
          </a:xfrm>
          <a:prstGeom prst="line">
            <a:avLst/>
          </a:prstGeom>
          <a:ln w="19050">
            <a:solidFill>
              <a:srgbClr val="3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553450" y="2333625"/>
            <a:ext cx="609600" cy="0"/>
          </a:xfrm>
          <a:prstGeom prst="line">
            <a:avLst/>
          </a:prstGeom>
          <a:ln w="19050">
            <a:solidFill>
              <a:srgbClr val="3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9080500" y="22987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029575" y="3067050"/>
            <a:ext cx="523875" cy="0"/>
          </a:xfrm>
          <a:prstGeom prst="line">
            <a:avLst/>
          </a:prstGeom>
          <a:ln w="19050">
            <a:solidFill>
              <a:srgbClr val="3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553450" y="3067050"/>
            <a:ext cx="0" cy="466725"/>
          </a:xfrm>
          <a:prstGeom prst="line">
            <a:avLst/>
          </a:prstGeom>
          <a:ln w="19050">
            <a:solidFill>
              <a:srgbClr val="3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53450" y="3533775"/>
            <a:ext cx="609600" cy="0"/>
          </a:xfrm>
          <a:prstGeom prst="line">
            <a:avLst/>
          </a:prstGeom>
          <a:ln w="19050">
            <a:solidFill>
              <a:srgbClr val="3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9080500" y="34925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63050" y="1943100"/>
            <a:ext cx="2409825" cy="819150"/>
          </a:xfrm>
          <a:prstGeom prst="roundRect">
            <a:avLst>
              <a:gd name="adj" fmla="val 11627"/>
            </a:avLst>
          </a:prstGeom>
          <a:solidFill>
            <a:srgbClr val="EDF3FC"/>
          </a:solidFill>
          <a:ln w="13334">
            <a:solidFill>
              <a:srgbClr val="3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4783" y="2066925"/>
            <a:ext cx="1602557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3B6CB0"/>
                </a:solidFill>
                <a:latin typeface="Microsoft YaHei"/>
                <a:ea typeface="Microsoft YaHei"/>
              </a:rPr>
              <a:t>输运锁相 </a:t>
            </a:r>
            <a:r>
              <a:rPr sz="1725" b="1">
                <a:solidFill>
                  <a:srgbClr val="3B6CB0"/>
                </a:solidFill>
                <a:latin typeface="Arial"/>
                <a:ea typeface="Microsoft YaHei"/>
              </a:rPr>
              <a:t>·</a:t>
            </a:r>
            <a:r>
              <a:rPr sz="1725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725" b="1">
                <a:solidFill>
                  <a:srgbClr val="3B6CB0"/>
                </a:solidFill>
                <a:latin typeface="Arial"/>
                <a:ea typeface="Microsoft YaHei"/>
              </a:rPr>
              <a:t>Vxx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0995" y="2391251"/>
            <a:ext cx="1310133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内参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1f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→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Vxx(ω)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63050" y="3133725"/>
            <a:ext cx="2409825" cy="819150"/>
          </a:xfrm>
          <a:prstGeom prst="roundRect">
            <a:avLst>
              <a:gd name="adj" fmla="val 11627"/>
            </a:avLst>
          </a:prstGeom>
          <a:solidFill>
            <a:srgbClr val="EDF3FC"/>
          </a:solidFill>
          <a:ln w="13334">
            <a:solidFill>
              <a:srgbClr val="3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4034" y="3257550"/>
            <a:ext cx="1604055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3B6CB0"/>
                </a:solidFill>
                <a:latin typeface="Microsoft YaHei"/>
                <a:ea typeface="Microsoft YaHei"/>
              </a:rPr>
              <a:t>输运锁相 </a:t>
            </a:r>
            <a:r>
              <a:rPr sz="1725" b="1">
                <a:solidFill>
                  <a:srgbClr val="3B6CB0"/>
                </a:solidFill>
                <a:latin typeface="Arial"/>
                <a:ea typeface="Microsoft YaHei"/>
              </a:rPr>
              <a:t>·</a:t>
            </a:r>
            <a:r>
              <a:rPr sz="1725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725" b="1">
                <a:solidFill>
                  <a:srgbClr val="3B6CB0"/>
                </a:solidFill>
                <a:latin typeface="Arial"/>
                <a:ea typeface="Microsoft YaHei"/>
              </a:rPr>
              <a:t>Vxy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49656" y="3581876"/>
            <a:ext cx="1312812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n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=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2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→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Vxy(2ω)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800225" y="3257550"/>
            <a:ext cx="0" cy="1219200"/>
          </a:xfrm>
          <a:prstGeom prst="line">
            <a:avLst/>
          </a:prstGeom>
          <a:ln w="23812">
            <a:solidFill>
              <a:srgbClr val="BC7D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800225" y="4476750"/>
            <a:ext cx="8582025" cy="0"/>
          </a:xfrm>
          <a:prstGeom prst="line">
            <a:avLst/>
          </a:prstGeom>
          <a:ln w="23812">
            <a:solidFill>
              <a:srgbClr val="BC7D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0382250" y="3952875"/>
            <a:ext cx="0" cy="523875"/>
          </a:xfrm>
          <a:prstGeom prst="line">
            <a:avLst/>
          </a:prstGeom>
          <a:ln w="23812">
            <a:solidFill>
              <a:srgbClr val="BC7D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10337800" y="39497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4" y="0"/>
                </a:moveTo>
                <a:lnTo>
                  <a:pt x="0" y="7"/>
                </a:lnTo>
                <a:lnTo>
                  <a:pt x="7" y="7"/>
                </a:lnTo>
                <a:close/>
              </a:path>
            </a:pathLst>
          </a:cu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92553" y="4572000"/>
            <a:ext cx="3835668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BC7D1D"/>
                </a:solidFill>
                <a:latin typeface="Microsoft YaHei"/>
                <a:ea typeface="Microsoft YaHei"/>
              </a:rPr>
              <a:t>主锁相内参 </a:t>
            </a:r>
            <a:r>
              <a:rPr sz="1725" b="1">
                <a:solidFill>
                  <a:srgbClr val="BC7D1D"/>
                </a:solidFill>
                <a:latin typeface="Arial"/>
                <a:ea typeface="Microsoft YaHei"/>
              </a:rPr>
              <a:t>fI</a:t>
            </a:r>
            <a:r>
              <a:rPr sz="1725" b="1">
                <a:solidFill>
                  <a:srgbClr val="BC7D1D"/>
                </a:solidFill>
                <a:latin typeface="Microsoft YaHei"/>
                <a:ea typeface="Microsoft YaHei"/>
              </a:rPr>
              <a:t>；物理 </a:t>
            </a:r>
            <a:r>
              <a:rPr sz="1725" b="1">
                <a:solidFill>
                  <a:srgbClr val="BC7D1D"/>
                </a:solidFill>
                <a:latin typeface="Arial"/>
                <a:ea typeface="Microsoft YaHei"/>
              </a:rPr>
              <a:t>REF</a:t>
            </a:r>
            <a:r>
              <a:rPr sz="1725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725" b="1">
                <a:solidFill>
                  <a:srgbClr val="BC7D1D"/>
                </a:solidFill>
                <a:latin typeface="Arial"/>
                <a:ea typeface="Microsoft YaHei"/>
              </a:rPr>
              <a:t>→</a:t>
            </a:r>
            <a:r>
              <a:rPr sz="1725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725" b="1">
                <a:solidFill>
                  <a:srgbClr val="BC7D1D"/>
                </a:solidFill>
                <a:latin typeface="Arial"/>
                <a:ea typeface="Microsoft YaHei"/>
              </a:rPr>
              <a:t>Vxy</a:t>
            </a:r>
            <a:r>
              <a:rPr sz="1725" b="1">
                <a:solidFill>
                  <a:srgbClr val="BC7D1D"/>
                </a:solidFill>
                <a:latin typeface="Microsoft YaHei"/>
                <a:ea typeface="Microsoft YaHei"/>
              </a:rPr>
              <a:t> 锁相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9600" y="5095875"/>
            <a:ext cx="4048125" cy="365283"/>
          </a:xfrm>
          <a:prstGeom prst="roundRect">
            <a:avLst>
              <a:gd name="adj" fmla="val 36505"/>
            </a:avLst>
          </a:prstGeom>
          <a:solidFill>
            <a:srgbClr val="ED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31193" y="5143500"/>
            <a:ext cx="2081138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3B6CB0"/>
                </a:solidFill>
                <a:latin typeface="Microsoft YaHei"/>
                <a:ea typeface="Microsoft YaHei"/>
              </a:rPr>
              <a:t>空间通道：</a:t>
            </a:r>
            <a:r>
              <a:rPr sz="1575" b="1">
                <a:solidFill>
                  <a:srgbClr val="3B6CB0"/>
                </a:solidFill>
                <a:latin typeface="Arial"/>
                <a:ea typeface="Microsoft YaHei"/>
              </a:rPr>
              <a:t>Vxx</a:t>
            </a:r>
            <a:r>
              <a:rPr sz="1575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575" b="1">
                <a:solidFill>
                  <a:srgbClr val="3B6CB0"/>
                </a:solidFill>
                <a:latin typeface="Arial"/>
                <a:ea typeface="Microsoft YaHei"/>
              </a:rPr>
              <a:t>/</a:t>
            </a:r>
            <a:r>
              <a:rPr sz="1575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575" b="1">
                <a:solidFill>
                  <a:srgbClr val="3B6CB0"/>
                </a:solidFill>
                <a:latin typeface="Arial"/>
                <a:ea typeface="Microsoft YaHei"/>
              </a:rPr>
              <a:t>Vxy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24450" y="5095875"/>
            <a:ext cx="6448425" cy="365283"/>
          </a:xfrm>
          <a:prstGeom prst="roundRect">
            <a:avLst>
              <a:gd name="adj" fmla="val 36505"/>
            </a:avLst>
          </a:prstGeom>
          <a:solidFill>
            <a:srgbClr val="ED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72731" y="5143500"/>
            <a:ext cx="4028061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3B6CB0"/>
                </a:solidFill>
                <a:latin typeface="Microsoft YaHei"/>
                <a:ea typeface="Microsoft YaHei"/>
              </a:rPr>
              <a:t>每台锁相：同时保存 </a:t>
            </a:r>
            <a:r>
              <a:rPr sz="1575" b="1">
                <a:solidFill>
                  <a:srgbClr val="3B6CB0"/>
                </a:solidFill>
                <a:latin typeface="Arial"/>
                <a:ea typeface="Microsoft YaHei"/>
              </a:rPr>
              <a:t>X</a:t>
            </a:r>
            <a:r>
              <a:rPr sz="1575" b="1">
                <a:solidFill>
                  <a:srgbClr val="3B6CB0"/>
                </a:solidFill>
                <a:latin typeface="Microsoft YaHei"/>
                <a:ea typeface="Microsoft YaHei"/>
              </a:rPr>
              <a:t>、</a:t>
            </a:r>
            <a:r>
              <a:rPr sz="1575" b="1">
                <a:solidFill>
                  <a:srgbClr val="3B6CB0"/>
                </a:solidFill>
                <a:latin typeface="Arial"/>
                <a:ea typeface="Microsoft YaHei"/>
              </a:rPr>
              <a:t>Y</a:t>
            </a:r>
            <a:r>
              <a:rPr sz="1575" b="1">
                <a:solidFill>
                  <a:srgbClr val="3B6CB0"/>
                </a:solidFill>
                <a:latin typeface="Microsoft YaHei"/>
                <a:ea typeface="Microsoft YaHei"/>
              </a:rPr>
              <a:t>、量程与参考状态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4350" y="5886450"/>
            <a:ext cx="11163300" cy="514350"/>
          </a:xfrm>
          <a:prstGeom prst="roundRect">
            <a:avLst>
              <a:gd name="adj" fmla="val 1666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5325" y="6000750"/>
            <a:ext cx="7079907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Arial"/>
                <a:ea typeface="Microsoft YaHei"/>
              </a:rPr>
              <a:t>Vxy(2ω)</a:t>
            </a: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 与 </a:t>
            </a:r>
            <a:r>
              <a:rPr sz="1575" b="1">
                <a:solidFill>
                  <a:srgbClr val="168D9D"/>
                </a:solidFill>
                <a:latin typeface="Arial"/>
                <a:ea typeface="Microsoft YaHei"/>
              </a:rPr>
              <a:t>Iω²</a:t>
            </a: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 的关系用于检验二阶响应；微观机制由对照证据进一步区分。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23875" y="6619875"/>
            <a:ext cx="4756542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[2]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Sodemann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&amp;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Fu,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PRL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115,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216806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(2015)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；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[3]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Ma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et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al.,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Nature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565,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337–342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(2019)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58C"/>
                </a:solidFill>
                <a:latin typeface="Arial"/>
                <a:ea typeface="Microsoft YaHei"/>
              </a:rPr>
              <a:t>09/19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95275"/>
            <a:ext cx="2509893" cy="1733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09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NONLINEAR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HALL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—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676275"/>
            <a:ext cx="7277100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让二次响应与环境、激励和对照共同进入证据链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47775"/>
            <a:ext cx="5842038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中央把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T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B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Vg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的外层扫描，与各点的激励测试和锁相采集组合起来。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4350" y="1962150"/>
            <a:ext cx="209550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2050" y="2085975"/>
            <a:ext cx="876300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环境准备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531" y="2384583"/>
            <a:ext cx="1249337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T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B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Vg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→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读回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9850" y="2514600"/>
            <a:ext cx="152400" cy="0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2705100" y="2489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1300" y="1962150"/>
            <a:ext cx="209550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085975"/>
            <a:ext cx="876300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暗态基线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3441" y="2384583"/>
            <a:ext cx="1007417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1f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基线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量程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76800" y="2514600"/>
            <a:ext cx="152400" cy="0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978400" y="2489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48250" y="1962150"/>
            <a:ext cx="209550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5950" y="2085975"/>
            <a:ext cx="876300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幅值扫描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8333" y="2384583"/>
            <a:ext cx="951532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Iω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列表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+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2f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43750" y="2514600"/>
            <a:ext cx="152400" cy="0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7239000" y="2489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0" y="1962150"/>
            <a:ext cx="209550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2900" y="2085975"/>
            <a:ext cx="876300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回程对照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8432" y="2384583"/>
            <a:ext cx="1405235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参考点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频率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重复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10700" y="2514600"/>
            <a:ext cx="152400" cy="0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9499600" y="2489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82150" y="1962150"/>
            <a:ext cx="209550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9825" y="2085975"/>
            <a:ext cx="1276350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评估与下一步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5233" y="2384583"/>
            <a:ext cx="1405532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质量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+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证据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+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建议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4350" y="3552825"/>
            <a:ext cx="5381625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4350" y="3714750"/>
            <a:ext cx="38100" cy="314325"/>
          </a:xfrm>
          <a:prstGeom prst="rect">
            <a:avLst/>
          </a:pr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850" y="3705225"/>
            <a:ext cx="21336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653CF"/>
                </a:solidFill>
                <a:latin typeface="Microsoft YaHei"/>
                <a:ea typeface="Microsoft YaHei"/>
              </a:rPr>
              <a:t>中央组织的扫描空间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850" y="4143375"/>
            <a:ext cx="2061776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外层：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T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×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B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×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Vg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850" y="4464843"/>
            <a:ext cx="3461458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内层：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Iω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×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频率 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×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谐波 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×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重复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850" y="4786312"/>
            <a:ext cx="3409950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每点绑定实际电流与采集时间窗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1250" y="3552825"/>
            <a:ext cx="5486400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1250" y="3714750"/>
            <a:ext cx="38100" cy="314325"/>
          </a:xfrm>
          <a:prstGeom prst="rect">
            <a:avLst/>
          </a:pr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1750" y="3705225"/>
            <a:ext cx="23622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保留可区分机制的对照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1750" y="4143375"/>
            <a:ext cx="2219325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幅值依赖与返回参考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1750" y="4464843"/>
            <a:ext cx="3105317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频率 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相位 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接线与串扰检查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1750" y="4786312"/>
            <a:ext cx="3171825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热效应、漏电与长期漂移记录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4350" y="5886450"/>
            <a:ext cx="11163300" cy="514350"/>
          </a:xfrm>
          <a:prstGeom prst="roundRect">
            <a:avLst>
              <a:gd name="adj" fmla="val 1666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5325" y="6000750"/>
            <a:ext cx="664845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阶段之间可以根据数据质量和对照结果，提出新的测量条件与范围。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23875" y="6619875"/>
            <a:ext cx="2605738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非线性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Hall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×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BVPE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系统能力与应用场景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58C"/>
                </a:solidFill>
                <a:latin typeface="Arial"/>
                <a:ea typeface="Microsoft YaHei"/>
              </a:rPr>
              <a:t>10/19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95275"/>
            <a:ext cx="1900442" cy="1733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10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BVPE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—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SIGNAL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676275"/>
            <a:ext cx="7897266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233E"/>
                </a:solidFill>
                <a:latin typeface="Arial"/>
                <a:ea typeface="Microsoft YaHei"/>
              </a:rPr>
              <a:t>BVPE</a:t>
            </a: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：光学条件可编排，光生信号锁定 </a:t>
            </a:r>
            <a:r>
              <a:rPr sz="2700" b="1">
                <a:solidFill>
                  <a:srgbClr val="11233E"/>
                </a:solidFill>
                <a:latin typeface="Arial"/>
                <a:ea typeface="Microsoft YaHei"/>
              </a:rPr>
              <a:t>chopper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47775"/>
            <a:ext cx="6447350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730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nm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SuperK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→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调制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→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偏振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→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样品；独立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PD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把光功率纳入每个测量点。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4350" y="2066925"/>
            <a:ext cx="2152650" cy="800100"/>
          </a:xfrm>
          <a:prstGeom prst="roundRect">
            <a:avLst>
              <a:gd name="adj" fmla="val 11904"/>
            </a:avLst>
          </a:prstGeom>
          <a:solidFill>
            <a:srgbClr val="E9F6F7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695" y="2190750"/>
            <a:ext cx="1980158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68D9D"/>
                </a:solidFill>
                <a:latin typeface="Arial"/>
                <a:ea typeface="Microsoft YaHei"/>
              </a:rPr>
              <a:t>SuperK</a:t>
            </a: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650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650" b="1">
                <a:solidFill>
                  <a:srgbClr val="168D9D"/>
                </a:solidFill>
                <a:latin typeface="Arial"/>
                <a:ea typeface="Microsoft YaHei"/>
              </a:rPr>
              <a:t>730</a:t>
            </a: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650" b="1">
                <a:solidFill>
                  <a:srgbClr val="168D9D"/>
                </a:solidFill>
                <a:latin typeface="Arial"/>
                <a:ea typeface="Microsoft YaHei"/>
              </a:rPr>
              <a:t>nm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2502217"/>
            <a:ext cx="14478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选择光源与激发波段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33725" y="2066925"/>
            <a:ext cx="171450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7680" y="2190750"/>
            <a:ext cx="1082789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68D9D"/>
                </a:solidFill>
                <a:latin typeface="Arial"/>
                <a:ea typeface="Microsoft YaHei"/>
              </a:rPr>
              <a:t>chopper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6626" y="2515076"/>
            <a:ext cx="844897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调制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fchop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14950" y="2066925"/>
            <a:ext cx="186690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10250" y="2190750"/>
            <a:ext cx="95250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偏振模块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3611" y="2515076"/>
            <a:ext cx="745777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角度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θ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1450" y="1924050"/>
            <a:ext cx="2190750" cy="1304925"/>
          </a:xfrm>
          <a:prstGeom prst="roundRect">
            <a:avLst>
              <a:gd name="adj" fmla="val 8759"/>
            </a:avLst>
          </a:prstGeom>
          <a:solidFill>
            <a:srgbClr val="EDF3FC"/>
          </a:solidFill>
          <a:ln w="14287">
            <a:solidFill>
              <a:srgbClr val="3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6250" y="2436114"/>
            <a:ext cx="1581150" cy="228600"/>
          </a:xfrm>
          <a:prstGeom prst="roundRect">
            <a:avLst>
              <a:gd name="adj" fmla="val 16666"/>
            </a:avLst>
          </a:prstGeom>
          <a:solidFill>
            <a:srgbClr val="3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558212" y="2245614"/>
            <a:ext cx="0" cy="609600"/>
          </a:xfrm>
          <a:prstGeom prst="line">
            <a:avLst/>
          </a:prstGeom>
          <a:ln w="47625">
            <a:solidFill>
              <a:srgbClr val="3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520112" y="2188464"/>
            <a:ext cx="76200" cy="7620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20112" y="2836164"/>
            <a:ext cx="76200" cy="7620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215437" y="2245614"/>
            <a:ext cx="0" cy="609600"/>
          </a:xfrm>
          <a:prstGeom prst="line">
            <a:avLst/>
          </a:prstGeom>
          <a:ln w="47625">
            <a:solidFill>
              <a:srgbClr val="3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177337" y="2188464"/>
            <a:ext cx="76200" cy="7620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77337" y="2836164"/>
            <a:ext cx="76200" cy="7620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72425" y="2502789"/>
            <a:ext cx="95250" cy="9525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05975" y="2502789"/>
            <a:ext cx="95250" cy="95250"/>
          </a:xfrm>
          <a:prstGeom prst="ellipse">
            <a:avLst/>
          </a:pr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0316" y="2981325"/>
            <a:ext cx="1309217" cy="2266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3B6CB0"/>
                </a:solidFill>
                <a:latin typeface="Microsoft YaHei"/>
                <a:ea typeface="Microsoft YaHei"/>
              </a:rPr>
              <a:t>样品 </a:t>
            </a:r>
            <a:r>
              <a:rPr sz="1275" b="1">
                <a:solidFill>
                  <a:srgbClr val="3B6CB0"/>
                </a:solidFill>
                <a:latin typeface="Arial"/>
                <a:ea typeface="Microsoft YaHei"/>
              </a:rPr>
              <a:t>·</a:t>
            </a:r>
            <a:r>
              <a:rPr sz="1275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275" b="1">
                <a:solidFill>
                  <a:srgbClr val="3B6CB0"/>
                </a:solidFill>
                <a:latin typeface="Arial"/>
                <a:ea typeface="Microsoft YaHei"/>
              </a:rPr>
              <a:t>T</a:t>
            </a:r>
            <a:r>
              <a:rPr sz="1275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275" b="1">
                <a:solidFill>
                  <a:srgbClr val="3B6CB0"/>
                </a:solidFill>
                <a:latin typeface="Arial"/>
                <a:ea typeface="Microsoft YaHei"/>
              </a:rPr>
              <a:t>/</a:t>
            </a:r>
            <a:r>
              <a:rPr sz="1275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275" b="1">
                <a:solidFill>
                  <a:srgbClr val="3B6CB0"/>
                </a:solidFill>
                <a:latin typeface="Arial"/>
                <a:ea typeface="Microsoft YaHei"/>
              </a:rPr>
              <a:t>B</a:t>
            </a:r>
            <a:r>
              <a:rPr sz="1275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275" b="1">
                <a:solidFill>
                  <a:srgbClr val="3B6CB0"/>
                </a:solidFill>
                <a:latin typeface="Arial"/>
                <a:ea typeface="Microsoft YaHei"/>
              </a:rPr>
              <a:t>/</a:t>
            </a:r>
            <a:r>
              <a:rPr sz="1275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275" b="1">
                <a:solidFill>
                  <a:srgbClr val="3B6CB0"/>
                </a:solidFill>
                <a:latin typeface="Arial"/>
                <a:ea typeface="Microsoft YaHei"/>
              </a:rPr>
              <a:t>Vg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67000" y="2466975"/>
            <a:ext cx="466725" cy="0"/>
          </a:xfrm>
          <a:prstGeom prst="line">
            <a:avLst/>
          </a:prstGeom>
          <a:ln w="2857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3048000" y="24257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848225" y="2466975"/>
            <a:ext cx="466725" cy="0"/>
          </a:xfrm>
          <a:prstGeom prst="line">
            <a:avLst/>
          </a:prstGeom>
          <a:ln w="2857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5232400" y="2425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6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7181850" y="2466975"/>
            <a:ext cx="609600" cy="0"/>
          </a:xfrm>
          <a:prstGeom prst="line">
            <a:avLst/>
          </a:prstGeom>
          <a:ln w="2857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eform 30"/>
          <p:cNvSpPr/>
          <p:nvPr/>
        </p:nvSpPr>
        <p:spPr>
          <a:xfrm>
            <a:off x="7708900" y="24257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91450" y="3971925"/>
            <a:ext cx="2190750" cy="838200"/>
          </a:xfrm>
          <a:prstGeom prst="roundRect">
            <a:avLst>
              <a:gd name="adj" fmla="val 11363"/>
            </a:avLst>
          </a:prstGeom>
          <a:solidFill>
            <a:srgbClr val="EDF3FC"/>
          </a:solidFill>
          <a:ln w="13334">
            <a:solidFill>
              <a:srgbClr val="3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0879" y="4095750"/>
            <a:ext cx="126809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B6CB0"/>
                </a:solidFill>
                <a:latin typeface="Arial"/>
                <a:ea typeface="Microsoft YaHei"/>
              </a:rPr>
              <a:t>BVPE</a:t>
            </a:r>
            <a:r>
              <a:rPr sz="1800" b="1">
                <a:solidFill>
                  <a:srgbClr val="3B6CB0"/>
                </a:solidFill>
                <a:latin typeface="Microsoft YaHei"/>
                <a:ea typeface="Microsoft YaHei"/>
              </a:rPr>
              <a:t> 锁相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5538" y="4432934"/>
            <a:ext cx="1498773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光生电流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电压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·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X/Y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77300" y="3228975"/>
            <a:ext cx="0" cy="742950"/>
          </a:xfrm>
          <a:prstGeom prst="line">
            <a:avLst/>
          </a:prstGeom>
          <a:ln w="23812">
            <a:solidFill>
              <a:srgbClr val="3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8839200" y="38862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6" y="0"/>
                </a:lnTo>
                <a:lnTo>
                  <a:pt x="0" y="0"/>
                </a:lnTo>
                <a:close/>
              </a:path>
            </a:pathLst>
          </a:custGeom>
          <a:solidFill>
            <a:srgbClr val="3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3990975" y="2867025"/>
            <a:ext cx="0" cy="1533525"/>
          </a:xfrm>
          <a:prstGeom prst="line">
            <a:avLst/>
          </a:prstGeom>
          <a:ln w="23812">
            <a:solidFill>
              <a:srgbClr val="BC7D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990975" y="4400550"/>
            <a:ext cx="3800475" cy="0"/>
          </a:xfrm>
          <a:prstGeom prst="line">
            <a:avLst/>
          </a:prstGeom>
          <a:ln w="23812">
            <a:solidFill>
              <a:srgbClr val="BC7D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7708900" y="43561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7" y="3"/>
                </a:moveTo>
                <a:lnTo>
                  <a:pt x="0" y="0"/>
                </a:lnTo>
                <a:lnTo>
                  <a:pt x="0" y="7"/>
                </a:lnTo>
                <a:close/>
              </a:path>
            </a:pathLst>
          </a:cu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05300" y="4524375"/>
            <a:ext cx="1947216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BC7D1D"/>
                </a:solidFill>
                <a:latin typeface="Microsoft YaHei"/>
                <a:ea typeface="Microsoft YaHei"/>
              </a:rPr>
              <a:t>物理 </a:t>
            </a:r>
            <a:r>
              <a:rPr sz="1725" b="1">
                <a:solidFill>
                  <a:srgbClr val="BC7D1D"/>
                </a:solidFill>
                <a:latin typeface="Arial"/>
                <a:ea typeface="Microsoft YaHei"/>
              </a:rPr>
              <a:t>REF</a:t>
            </a:r>
            <a:r>
              <a:rPr sz="1725" b="1">
                <a:solidFill>
                  <a:srgbClr val="BC7D1D"/>
                </a:solidFill>
                <a:latin typeface="Microsoft YaHei"/>
                <a:ea typeface="Microsoft YaHei"/>
              </a:rPr>
              <a:t>：</a:t>
            </a:r>
            <a:r>
              <a:rPr sz="1725" b="1">
                <a:solidFill>
                  <a:srgbClr val="BC7D1D"/>
                </a:solidFill>
                <a:latin typeface="Arial"/>
                <a:ea typeface="Microsoft YaHei"/>
              </a:rPr>
              <a:t>fchop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81625" y="3514725"/>
            <a:ext cx="1790700" cy="790575"/>
          </a:xfrm>
          <a:prstGeom prst="roundRect">
            <a:avLst>
              <a:gd name="adj" fmla="val 12048"/>
            </a:avLst>
          </a:prstGeom>
          <a:solidFill>
            <a:srgbClr val="E9F6EF"/>
          </a:solidFill>
          <a:ln w="13334">
            <a:solidFill>
              <a:srgbClr val="278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6691" y="3638550"/>
            <a:ext cx="1296767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78565"/>
                </a:solidFill>
                <a:latin typeface="Arial"/>
                <a:ea typeface="Microsoft YaHei"/>
              </a:rPr>
              <a:t>PD</a:t>
            </a:r>
            <a:r>
              <a:rPr sz="1650" b="1">
                <a:solidFill>
                  <a:srgbClr val="278565"/>
                </a:solidFill>
                <a:latin typeface="Microsoft YaHei"/>
                <a:ea typeface="Microsoft YaHei"/>
              </a:rPr>
              <a:t> 功率监测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53037" y="3950017"/>
            <a:ext cx="1524074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Psample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的标定映射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67600" y="2466975"/>
            <a:ext cx="0" cy="1438275"/>
          </a:xfrm>
          <a:prstGeom prst="line">
            <a:avLst/>
          </a:prstGeom>
          <a:ln w="19050">
            <a:solidFill>
              <a:srgbClr val="2785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7172325" y="3905250"/>
            <a:ext cx="295275" cy="0"/>
          </a:xfrm>
          <a:prstGeom prst="line">
            <a:avLst/>
          </a:prstGeom>
          <a:ln w="19050">
            <a:solidFill>
              <a:srgbClr val="2785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7175500" y="38608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0" y="4"/>
                </a:moveTo>
                <a:lnTo>
                  <a:pt x="7" y="7"/>
                </a:lnTo>
                <a:lnTo>
                  <a:pt x="7" y="0"/>
                </a:lnTo>
                <a:close/>
              </a:path>
            </a:pathLst>
          </a:custGeom>
          <a:solidFill>
            <a:srgbClr val="27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14350" y="3600450"/>
            <a:ext cx="3238500" cy="876300"/>
          </a:xfrm>
          <a:prstGeom prst="roundRect">
            <a:avLst>
              <a:gd name="adj" fmla="val 10869"/>
            </a:avLst>
          </a:prstGeom>
          <a:solidFill>
            <a:srgbClr val="F1ECFC"/>
          </a:solidFill>
          <a:ln w="13334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8596" y="3724275"/>
            <a:ext cx="2166207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7653CF"/>
                </a:solidFill>
                <a:latin typeface="Arial"/>
                <a:ea typeface="Microsoft YaHei"/>
              </a:rPr>
              <a:t>CLD1000</a:t>
            </a:r>
            <a:r>
              <a:rPr sz="1575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575" b="1">
                <a:solidFill>
                  <a:srgbClr val="7653CF"/>
                </a:solidFill>
                <a:latin typeface="Arial"/>
                <a:ea typeface="Microsoft YaHei"/>
              </a:rPr>
              <a:t>→</a:t>
            </a:r>
            <a:r>
              <a:rPr sz="1575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575" b="1">
                <a:solidFill>
                  <a:srgbClr val="7653CF"/>
                </a:solidFill>
                <a:latin typeface="Arial"/>
                <a:ea typeface="Microsoft YaHei"/>
              </a:rPr>
              <a:t>730</a:t>
            </a:r>
            <a:r>
              <a:rPr sz="1575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575" b="1">
                <a:solidFill>
                  <a:srgbClr val="7653CF"/>
                </a:solidFill>
                <a:latin typeface="Arial"/>
                <a:ea typeface="Microsoft YaHei"/>
              </a:rPr>
              <a:t>nm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9564" y="4022883"/>
            <a:ext cx="2264271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驱动设置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→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PD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读回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→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功率映射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1562100" y="2867025"/>
            <a:ext cx="0" cy="733425"/>
          </a:xfrm>
          <a:prstGeom prst="line">
            <a:avLst/>
          </a:prstGeom>
          <a:ln w="1905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1524000" y="287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0" y="6"/>
                </a:lnTo>
                <a:lnTo>
                  <a:pt x="6" y="6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275" y="5086350"/>
            <a:ext cx="7874365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3364D"/>
                </a:solidFill>
                <a:latin typeface="Arial"/>
                <a:ea typeface="Microsoft YaHei"/>
              </a:rPr>
              <a:t>BVPE</a:t>
            </a:r>
            <a:r>
              <a:rPr sz="1650" b="1">
                <a:solidFill>
                  <a:srgbClr val="23364D"/>
                </a:solidFill>
                <a:latin typeface="Microsoft YaHei"/>
                <a:ea typeface="Microsoft YaHei"/>
              </a:rPr>
              <a:t> 测量：源漏零外加偏压；栅压作为独立调控轴；光生信号由对照与标定支撑。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4350" y="5886450"/>
            <a:ext cx="11163300" cy="514350"/>
          </a:xfrm>
          <a:prstGeom prst="roundRect">
            <a:avLst>
              <a:gd name="adj" fmla="val 1666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5325" y="6000750"/>
            <a:ext cx="7338835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电学解调频率 </a:t>
            </a:r>
            <a:r>
              <a:rPr sz="1725" b="1">
                <a:solidFill>
                  <a:srgbClr val="168D9D"/>
                </a:solidFill>
                <a:latin typeface="Arial"/>
                <a:ea typeface="Microsoft YaHei"/>
              </a:rPr>
              <a:t>fchop</a:t>
            </a: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 对应光强调制包络，区别于激发光频与 </a:t>
            </a:r>
            <a:r>
              <a:rPr sz="1725" b="1">
                <a:solidFill>
                  <a:srgbClr val="168D9D"/>
                </a:solidFill>
                <a:latin typeface="Arial"/>
                <a:ea typeface="Microsoft YaHei"/>
              </a:rPr>
              <a:t>Hall</a:t>
            </a: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 的 </a:t>
            </a:r>
            <a:r>
              <a:rPr sz="1725" b="1">
                <a:solidFill>
                  <a:srgbClr val="168D9D"/>
                </a:solidFill>
                <a:latin typeface="Arial"/>
                <a:ea typeface="Microsoft YaHei"/>
              </a:rPr>
              <a:t>2fI</a:t>
            </a: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23875" y="6619875"/>
            <a:ext cx="4545508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[4]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Osterhoudt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et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al.,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Nature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Materials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18,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471–475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(2019)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；测量链为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场景示意。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58C"/>
                </a:solidFill>
                <a:latin typeface="Arial"/>
                <a:ea typeface="Microsoft YaHei"/>
              </a:rPr>
              <a:t>11/19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95275"/>
            <a:ext cx="1668874" cy="1733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11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BVPE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—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676275"/>
            <a:ext cx="6591300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功率、偏振与光谱组合成可复用的测量阶段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47775"/>
            <a:ext cx="5940390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中央将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PC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A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的光源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光谱，与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PC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B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的环境、偏振、调制和电读出配对。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4350" y="1962150"/>
            <a:ext cx="209550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2037" y="2085975"/>
            <a:ext cx="1076325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暗态与参考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382" y="2384583"/>
            <a:ext cx="1557635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暗背景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光谱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零偏置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9850" y="2514600"/>
            <a:ext cx="152400" cy="0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2705100" y="2489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1300" y="1962150"/>
            <a:ext cx="209550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085975"/>
            <a:ext cx="876300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功率标定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1563" y="2384583"/>
            <a:ext cx="1651173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驱动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→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PD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→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Psample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76800" y="2514600"/>
            <a:ext cx="152400" cy="0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978400" y="2489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48250" y="1962150"/>
            <a:ext cx="209550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5950" y="2085975"/>
            <a:ext cx="876300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偏振扫描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0249" y="2384583"/>
            <a:ext cx="12477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线偏振角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λ/4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角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43750" y="2514600"/>
            <a:ext cx="152400" cy="0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7239000" y="2489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0" y="1962150"/>
            <a:ext cx="209550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2900" y="2085975"/>
            <a:ext cx="876300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多维测量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0032" y="2384583"/>
            <a:ext cx="1402035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光谱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×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T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×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B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×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Vg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10700" y="2514600"/>
            <a:ext cx="152400" cy="0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9499600" y="2489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82150" y="1962150"/>
            <a:ext cx="209550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9850" y="2085975"/>
            <a:ext cx="876300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返回参考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9182" y="2384583"/>
            <a:ext cx="1557635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暗态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参考功率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重复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4350" y="3562350"/>
            <a:ext cx="3476625" cy="1952625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4350" y="3724275"/>
            <a:ext cx="38100" cy="314325"/>
          </a:xfrm>
          <a:prstGeom prst="rect">
            <a:avLst/>
          </a:pr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850" y="3714750"/>
            <a:ext cx="2135051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653CF"/>
                </a:solidFill>
                <a:latin typeface="Arial"/>
                <a:ea typeface="Microsoft YaHei"/>
              </a:rPr>
              <a:t>730</a:t>
            </a:r>
            <a:r>
              <a:rPr sz="180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800" b="1">
                <a:solidFill>
                  <a:srgbClr val="7653CF"/>
                </a:solidFill>
                <a:latin typeface="Arial"/>
                <a:ea typeface="Microsoft YaHei"/>
              </a:rPr>
              <a:t>nm</a:t>
            </a:r>
            <a:r>
              <a:rPr sz="180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800" b="1">
                <a:solidFill>
                  <a:srgbClr val="7653CF"/>
                </a:solidFill>
                <a:latin typeface="Arial"/>
                <a:ea typeface="Microsoft YaHei"/>
              </a:rPr>
              <a:t>·</a:t>
            </a:r>
            <a:r>
              <a:rPr sz="1800" b="1">
                <a:solidFill>
                  <a:srgbClr val="7653CF"/>
                </a:solidFill>
                <a:latin typeface="Microsoft YaHei"/>
                <a:ea typeface="Microsoft YaHei"/>
              </a:rPr>
              <a:t> 固定波长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850" y="4152900"/>
            <a:ext cx="2095202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CLD1000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驱动设置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850" y="4461509"/>
            <a:ext cx="2050107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PD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监测与功率归一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850" y="4770120"/>
            <a:ext cx="1873076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功率 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偏振态依赖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52925" y="3562350"/>
            <a:ext cx="3476625" cy="1952625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52925" y="3724275"/>
            <a:ext cx="38100" cy="314325"/>
          </a:xfrm>
          <a:prstGeom prst="rect">
            <a:avLst/>
          </a:pr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3425" y="3714750"/>
            <a:ext cx="2133041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8D9D"/>
                </a:solidFill>
                <a:latin typeface="Arial"/>
                <a:ea typeface="Microsoft YaHei"/>
              </a:rPr>
              <a:t>SuperK</a:t>
            </a: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800" b="1">
                <a:solidFill>
                  <a:srgbClr val="168D9D"/>
                </a:solidFill>
                <a:latin typeface="Arial"/>
                <a:ea typeface="Microsoft YaHei"/>
              </a:rPr>
              <a:t>·</a:t>
            </a: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 波段配置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3425" y="4152900"/>
            <a:ext cx="14478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设置激发波段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3425" y="4461509"/>
            <a:ext cx="2191084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IR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光谱记录入射条件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3425" y="4770120"/>
            <a:ext cx="21336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光谱响应与环境扫描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01025" y="3562350"/>
            <a:ext cx="3476625" cy="1952625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01025" y="3724275"/>
            <a:ext cx="38100" cy="314325"/>
          </a:xfrm>
          <a:prstGeom prst="rect">
            <a:avLst/>
          </a:prstGeom>
          <a:solidFill>
            <a:srgbClr val="3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1525" y="3714750"/>
            <a:ext cx="1882899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B6CB0"/>
                </a:solidFill>
                <a:latin typeface="Microsoft YaHei"/>
                <a:ea typeface="Microsoft YaHei"/>
              </a:rPr>
              <a:t>偏振模块 </a:t>
            </a:r>
            <a:r>
              <a:rPr sz="1800" b="1">
                <a:solidFill>
                  <a:srgbClr val="3B6CB0"/>
                </a:solidFill>
                <a:latin typeface="Arial"/>
                <a:ea typeface="Microsoft YaHei"/>
              </a:rPr>
              <a:t>·</a:t>
            </a:r>
            <a:r>
              <a:rPr sz="1800" b="1">
                <a:solidFill>
                  <a:srgbClr val="3B6CB0"/>
                </a:solidFill>
                <a:latin typeface="Microsoft YaHei"/>
                <a:ea typeface="Microsoft YaHei"/>
              </a:rPr>
              <a:t> 可切换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91525" y="4152900"/>
            <a:ext cx="187609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线偏振片：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θ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扫描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1525" y="4461509"/>
            <a:ext cx="2304603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λ/4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波片：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φ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与偏振态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1525" y="4770120"/>
            <a:ext cx="21336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保存角度原点与标定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4350" y="5886450"/>
            <a:ext cx="11163300" cy="514350"/>
          </a:xfrm>
          <a:prstGeom prst="roundRect">
            <a:avLst>
              <a:gd name="adj" fmla="val 1666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5325" y="6000750"/>
            <a:ext cx="664845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中央比较的是带有实际光功率、偏振配置与入射谱证据的光生响应。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23875" y="6619875"/>
            <a:ext cx="2605738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非线性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Hall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×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BVPE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系统能力与应用场景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58C"/>
                </a:solidFill>
                <a:latin typeface="Arial"/>
                <a:ea typeface="Microsoft YaHei"/>
              </a:rPr>
              <a:t>12/19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95275"/>
            <a:ext cx="1524311" cy="1733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12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JOINT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676275"/>
            <a:ext cx="6248400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一个研究任务，串起暗态输运与光生测量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47775"/>
            <a:ext cx="6121454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各阶段共享样品与环境坐标；以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campaign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run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point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关联结果和条件。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4350" y="2124075"/>
            <a:ext cx="253365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4350" y="2286000"/>
            <a:ext cx="38100" cy="314325"/>
          </a:xfrm>
          <a:prstGeom prst="rect">
            <a:avLst/>
          </a:pr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850" y="2276475"/>
            <a:ext cx="1262797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7653CF"/>
                </a:solidFill>
                <a:latin typeface="Arial"/>
                <a:ea typeface="Microsoft YaHei"/>
              </a:rPr>
              <a:t>A</a:t>
            </a:r>
            <a:r>
              <a:rPr sz="16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650" b="1">
                <a:solidFill>
                  <a:srgbClr val="7653CF"/>
                </a:solidFill>
                <a:latin typeface="Arial"/>
                <a:ea typeface="Microsoft YaHei"/>
              </a:rPr>
              <a:t>/</a:t>
            </a:r>
            <a:r>
              <a:rPr sz="1650" b="1">
                <a:solidFill>
                  <a:srgbClr val="7653CF"/>
                </a:solidFill>
                <a:latin typeface="Microsoft YaHei"/>
                <a:ea typeface="Microsoft YaHei"/>
              </a:rPr>
              <a:t> 暗态输运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714625"/>
            <a:ext cx="547482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PC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2997517"/>
            <a:ext cx="76200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04850" y="3280409"/>
            <a:ext cx="1786979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T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B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Vg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→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Vxx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563302"/>
            <a:ext cx="467571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Vxy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48000" y="3114675"/>
            <a:ext cx="295275" cy="0"/>
          </a:xfrm>
          <a:prstGeom prst="line">
            <a:avLst/>
          </a:prstGeom>
          <a:ln w="22859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3251200" y="30734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90900" y="2124075"/>
            <a:ext cx="253365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0900" y="2286000"/>
            <a:ext cx="38100" cy="314325"/>
          </a:xfrm>
          <a:prstGeom prst="rect">
            <a:avLst/>
          </a:pr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1400" y="2276475"/>
            <a:ext cx="1260341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68D9D"/>
                </a:solidFill>
                <a:latin typeface="Arial"/>
                <a:ea typeface="Microsoft YaHei"/>
              </a:rPr>
              <a:t>B</a:t>
            </a: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650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 光学参考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1400" y="2714625"/>
            <a:ext cx="1303622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PC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A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PC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1400" y="2997517"/>
            <a:ext cx="76200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3581400" y="3280409"/>
            <a:ext cx="2191754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光谱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PD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→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光学条件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24550" y="3114675"/>
            <a:ext cx="295275" cy="0"/>
          </a:xfrm>
          <a:prstGeom prst="line">
            <a:avLst/>
          </a:prstGeom>
          <a:ln w="22859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6134100" y="30734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7450" y="2124075"/>
            <a:ext cx="253365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7450" y="2286000"/>
            <a:ext cx="38100" cy="314325"/>
          </a:xfrm>
          <a:prstGeom prst="rect">
            <a:avLst/>
          </a:prstGeom>
          <a:solidFill>
            <a:srgbClr val="3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7950" y="2276475"/>
            <a:ext cx="1254407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3B6CB0"/>
                </a:solidFill>
                <a:latin typeface="Arial"/>
                <a:ea typeface="Microsoft YaHei"/>
              </a:rPr>
              <a:t>C</a:t>
            </a:r>
            <a:r>
              <a:rPr sz="16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650" b="1">
                <a:solidFill>
                  <a:srgbClr val="3B6CB0"/>
                </a:solidFill>
                <a:latin typeface="Arial"/>
                <a:ea typeface="Microsoft YaHei"/>
              </a:rPr>
              <a:t>/</a:t>
            </a:r>
            <a:r>
              <a:rPr sz="1650" b="1">
                <a:solidFill>
                  <a:srgbClr val="3B6CB0"/>
                </a:solidFill>
                <a:latin typeface="Microsoft YaHei"/>
                <a:ea typeface="Microsoft YaHei"/>
              </a:rPr>
              <a:t> 光生响应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7950" y="2714625"/>
            <a:ext cx="1303622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PC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A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PC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7950" y="2997517"/>
            <a:ext cx="76200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457950" y="3280409"/>
            <a:ext cx="2190219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光源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偏振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→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BVPE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7950" y="3563302"/>
            <a:ext cx="285750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相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01100" y="3114675"/>
            <a:ext cx="295275" cy="0"/>
          </a:xfrm>
          <a:prstGeom prst="line">
            <a:avLst/>
          </a:prstGeom>
          <a:ln w="22859">
            <a:solidFill>
              <a:srgbClr val="3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eform 30"/>
          <p:cNvSpPr/>
          <p:nvPr/>
        </p:nvSpPr>
        <p:spPr>
          <a:xfrm>
            <a:off x="9017000" y="3073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6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0" y="2124075"/>
            <a:ext cx="253365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0" y="2286000"/>
            <a:ext cx="38100" cy="314325"/>
          </a:xfrm>
          <a:prstGeom prst="rect">
            <a:avLst/>
          </a:prstGeom>
          <a:solidFill>
            <a:srgbClr val="27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34500" y="2276475"/>
            <a:ext cx="1274564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78565"/>
                </a:solidFill>
                <a:latin typeface="Arial"/>
                <a:ea typeface="Microsoft YaHei"/>
              </a:rPr>
              <a:t>D</a:t>
            </a:r>
            <a:r>
              <a:rPr sz="1650" b="1">
                <a:solidFill>
                  <a:srgbClr val="278565"/>
                </a:solidFill>
                <a:latin typeface="Microsoft YaHei"/>
                <a:ea typeface="Microsoft YaHei"/>
              </a:rPr>
              <a:t> </a:t>
            </a:r>
            <a:r>
              <a:rPr sz="1650" b="1">
                <a:solidFill>
                  <a:srgbClr val="278565"/>
                </a:solidFill>
                <a:latin typeface="Arial"/>
                <a:ea typeface="Microsoft YaHei"/>
              </a:rPr>
              <a:t>/</a:t>
            </a:r>
            <a:r>
              <a:rPr sz="1650" b="1">
                <a:solidFill>
                  <a:srgbClr val="278565"/>
                </a:solidFill>
                <a:latin typeface="Microsoft YaHei"/>
                <a:ea typeface="Microsoft YaHei"/>
              </a:rPr>
              <a:t> 返回对照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4500" y="2714625"/>
            <a:ext cx="1303622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PC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B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PC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34500" y="2997517"/>
            <a:ext cx="76200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9334500" y="3280409"/>
            <a:ext cx="2113173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暗态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功率 </a:t>
            </a:r>
            <a:r>
              <a:rPr sz="165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 参考点复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34500" y="3563302"/>
            <a:ext cx="285750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3364D"/>
                </a:solidFill>
                <a:latin typeface="Microsoft YaHei"/>
                <a:ea typeface="Microsoft YaHei"/>
              </a:rPr>
              <a:t>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4350" y="4600575"/>
            <a:ext cx="11163300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77092" y="4752975"/>
            <a:ext cx="8894964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1233E"/>
                </a:solidFill>
                <a:latin typeface="Microsoft YaHei"/>
                <a:ea typeface="Microsoft YaHei"/>
              </a:rPr>
              <a:t>共同坐标：</a:t>
            </a:r>
            <a:r>
              <a:rPr sz="1875" b="1">
                <a:solidFill>
                  <a:srgbClr val="11233E"/>
                </a:solidFill>
                <a:latin typeface="Arial"/>
                <a:ea typeface="Microsoft YaHei"/>
              </a:rPr>
              <a:t>sample_id</a:t>
            </a:r>
            <a:r>
              <a:rPr sz="1875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875" b="1">
                <a:solidFill>
                  <a:srgbClr val="11233E"/>
                </a:solidFill>
                <a:latin typeface="Arial"/>
                <a:ea typeface="Microsoft YaHei"/>
              </a:rPr>
              <a:t>+</a:t>
            </a:r>
            <a:r>
              <a:rPr sz="1875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875" b="1">
                <a:solidFill>
                  <a:srgbClr val="11233E"/>
                </a:solidFill>
                <a:latin typeface="Arial"/>
                <a:ea typeface="Microsoft YaHei"/>
              </a:rPr>
              <a:t>Tread</a:t>
            </a:r>
            <a:r>
              <a:rPr sz="1875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875" b="1">
                <a:solidFill>
                  <a:srgbClr val="11233E"/>
                </a:solidFill>
                <a:latin typeface="Arial"/>
                <a:ea typeface="Microsoft YaHei"/>
              </a:rPr>
              <a:t>+</a:t>
            </a:r>
            <a:r>
              <a:rPr sz="1875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875" b="1">
                <a:solidFill>
                  <a:srgbClr val="11233E"/>
                </a:solidFill>
                <a:latin typeface="Arial"/>
                <a:ea typeface="Microsoft YaHei"/>
              </a:rPr>
              <a:t>Bread</a:t>
            </a:r>
            <a:r>
              <a:rPr sz="1875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875" b="1">
                <a:solidFill>
                  <a:srgbClr val="11233E"/>
                </a:solidFill>
                <a:latin typeface="Arial"/>
                <a:ea typeface="Microsoft YaHei"/>
              </a:rPr>
              <a:t>+</a:t>
            </a:r>
            <a:r>
              <a:rPr sz="1875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875" b="1">
                <a:solidFill>
                  <a:srgbClr val="11233E"/>
                </a:solidFill>
                <a:latin typeface="Arial"/>
                <a:ea typeface="Microsoft YaHei"/>
              </a:rPr>
              <a:t>Vgread</a:t>
            </a:r>
            <a:r>
              <a:rPr sz="1875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875" b="1">
                <a:solidFill>
                  <a:srgbClr val="11233E"/>
                </a:solidFill>
                <a:latin typeface="Arial"/>
                <a:ea typeface="Microsoft YaHei"/>
              </a:rPr>
              <a:t>+</a:t>
            </a:r>
            <a:r>
              <a:rPr sz="1875" b="1">
                <a:solidFill>
                  <a:srgbClr val="11233E"/>
                </a:solidFill>
                <a:latin typeface="Microsoft YaHei"/>
                <a:ea typeface="Microsoft YaHei"/>
              </a:rPr>
              <a:t> 采集时间窗 </a:t>
            </a:r>
            <a:r>
              <a:rPr sz="1875" b="1">
                <a:solidFill>
                  <a:srgbClr val="11233E"/>
                </a:solidFill>
                <a:latin typeface="Arial"/>
                <a:ea typeface="Microsoft YaHei"/>
              </a:rPr>
              <a:t>+</a:t>
            </a:r>
            <a:r>
              <a:rPr sz="1875" b="1">
                <a:solidFill>
                  <a:srgbClr val="11233E"/>
                </a:solidFill>
                <a:latin typeface="Microsoft YaHei"/>
                <a:ea typeface="Microsoft YaHei"/>
              </a:rPr>
              <a:t> 接线版本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4350" y="5886450"/>
            <a:ext cx="11163300" cy="514350"/>
          </a:xfrm>
          <a:prstGeom prst="roundRect">
            <a:avLst>
              <a:gd name="adj" fmla="val 1666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5325" y="6000750"/>
            <a:ext cx="708660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先把条件和证据对齐，再讨论电响应、光响应及其环境依赖之间的关系。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23875" y="6619875"/>
            <a:ext cx="2605738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非线性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Hall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×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BVPE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系统能力与应用场景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58C"/>
                </a:solidFill>
                <a:latin typeface="Arial"/>
                <a:ea typeface="Microsoft YaHei"/>
              </a:rPr>
              <a:t>13/19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95275"/>
            <a:ext cx="2276693" cy="1733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13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QUALITY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AND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676275"/>
            <a:ext cx="8413625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每一个点，都能解释</a:t>
            </a:r>
            <a:r>
              <a:rPr sz="2700" b="1">
                <a:solidFill>
                  <a:srgbClr val="11233E"/>
                </a:solidFill>
                <a:latin typeface="Arial"/>
                <a:ea typeface="Microsoft YaHei"/>
              </a:rPr>
              <a:t>“</a:t>
            </a: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测了什么、条件如何、能否使用</a:t>
            </a:r>
            <a:r>
              <a:rPr sz="2700" b="1">
                <a:solidFill>
                  <a:srgbClr val="11233E"/>
                </a:solidFill>
                <a:latin typeface="Arial"/>
                <a:ea typeface="Microsoft YaHei"/>
              </a:rPr>
              <a:t>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47775"/>
            <a:ext cx="4962525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请求值与实际读回分开保存，原始信号与质量判断分开保存。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4350" y="1933575"/>
            <a:ext cx="3381375" cy="3305175"/>
          </a:xfrm>
          <a:prstGeom prst="roundRect">
            <a:avLst>
              <a:gd name="adj" fmla="val 3458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4350" y="2095500"/>
            <a:ext cx="38100" cy="314325"/>
          </a:xfrm>
          <a:prstGeom prst="rect">
            <a:avLst/>
          </a:pr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850" y="2085975"/>
            <a:ext cx="16764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653CF"/>
                </a:solidFill>
                <a:latin typeface="Microsoft YaHei"/>
                <a:ea typeface="Microsoft YaHei"/>
              </a:rPr>
              <a:t>共同身份与条件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524125"/>
            <a:ext cx="2888553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sample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campaign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2819876"/>
            <a:ext cx="1609725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计划与配置哈希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3115627"/>
            <a:ext cx="1907957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请求值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实际读回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411378"/>
            <a:ext cx="139065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采集起止时间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3707129"/>
            <a:ext cx="2205763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光源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偏振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接线版本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19575" y="1933575"/>
            <a:ext cx="3381375" cy="3305175"/>
          </a:xfrm>
          <a:prstGeom prst="roundRect">
            <a:avLst>
              <a:gd name="adj" fmla="val 3458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19575" y="2095500"/>
            <a:ext cx="38100" cy="314325"/>
          </a:xfrm>
          <a:prstGeom prst="rect">
            <a:avLst/>
          </a:pr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0075" y="2085975"/>
            <a:ext cx="21336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原始信号与仪器状态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0075" y="2524125"/>
            <a:ext cx="2519613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Vxx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、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Vxy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的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X/Y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与谐波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0075" y="2819876"/>
            <a:ext cx="2237747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BVPE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原始信号与增益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0075" y="3115627"/>
            <a:ext cx="1937267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PD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功率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入射光谱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0075" y="3411378"/>
            <a:ext cx="226695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过载、参考锁定与量程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0075" y="3707129"/>
            <a:ext cx="2047875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本地原始文件与摘要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15275" y="1933575"/>
            <a:ext cx="3762375" cy="3305175"/>
          </a:xfrm>
          <a:prstGeom prst="roundRect">
            <a:avLst>
              <a:gd name="adj" fmla="val 3458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15275" y="2095500"/>
            <a:ext cx="38100" cy="314325"/>
          </a:xfrm>
          <a:prstGeom prst="rect">
            <a:avLst/>
          </a:prstGeom>
          <a:solidFill>
            <a:srgbClr val="27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05775" y="2085975"/>
            <a:ext cx="21336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78565"/>
                </a:solidFill>
                <a:latin typeface="Microsoft YaHei"/>
                <a:ea typeface="Microsoft YaHei"/>
              </a:rPr>
              <a:t>质量判定与实验复盘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5775" y="2524125"/>
            <a:ext cx="2047875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合格：进入后续分析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5775" y="2819876"/>
            <a:ext cx="2047875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拒绝：保留原始数据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5775" y="3115627"/>
            <a:ext cx="226695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历史：注明状态与时间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5775" y="3411378"/>
            <a:ext cx="226695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记录关闭输出后的读回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5775" y="3707129"/>
            <a:ext cx="2266950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形成有依据的后续建议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4350" y="5886450"/>
            <a:ext cx="11163300" cy="514350"/>
          </a:xfrm>
          <a:prstGeom prst="roundRect">
            <a:avLst>
              <a:gd name="adj" fmla="val 1666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325" y="6000750"/>
            <a:ext cx="7305675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68D9D"/>
                </a:solidFill>
                <a:latin typeface="Microsoft YaHei"/>
                <a:ea typeface="Microsoft YaHei"/>
              </a:rPr>
              <a:t>统一数据不是只拼接数值，而是把条件、来源、质量与解释边界一起保存。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23875" y="6619875"/>
            <a:ext cx="2605738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非线性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Hall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×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BVPE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系统能力与应用场景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58C"/>
                </a:solidFill>
                <a:latin typeface="Arial"/>
                <a:ea typeface="Microsoft YaHei"/>
              </a:rPr>
              <a:t>14/19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95275"/>
            <a:ext cx="1621110" cy="1733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14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USER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676275"/>
            <a:ext cx="6930851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研究者描述目标，中央把跨 </a:t>
            </a:r>
            <a:r>
              <a:rPr sz="2700" b="1">
                <a:solidFill>
                  <a:srgbClr val="11233E"/>
                </a:solidFill>
                <a:latin typeface="Arial"/>
                <a:ea typeface="Microsoft YaHei"/>
              </a:rPr>
              <a:t>PC</a:t>
            </a: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 流程组织起来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47775"/>
            <a:ext cx="5143500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设备配置可复用；每次实验聚焦样品、变量、对照与允许范围。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4350" y="1885950"/>
            <a:ext cx="11163300" cy="1066800"/>
          </a:xfrm>
          <a:prstGeom prst="roundRect">
            <a:avLst>
              <a:gd name="adj" fmla="val 10714"/>
            </a:avLst>
          </a:prstGeom>
          <a:solidFill>
            <a:srgbClr val="F1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2475" y="2066925"/>
            <a:ext cx="6138774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7653CF"/>
                </a:solidFill>
                <a:latin typeface="Arial"/>
                <a:ea typeface="Microsoft YaHei"/>
              </a:rPr>
              <a:t>“</a:t>
            </a:r>
            <a:r>
              <a:rPr sz="2025" b="1">
                <a:solidFill>
                  <a:srgbClr val="7653CF"/>
                </a:solidFill>
                <a:latin typeface="Microsoft YaHei"/>
                <a:ea typeface="Microsoft YaHei"/>
              </a:rPr>
              <a:t>对同一样品，按 </a:t>
            </a:r>
            <a:r>
              <a:rPr sz="2025" b="1">
                <a:solidFill>
                  <a:srgbClr val="7653CF"/>
                </a:solidFill>
                <a:latin typeface="Arial"/>
                <a:ea typeface="Microsoft YaHei"/>
              </a:rPr>
              <a:t>T</a:t>
            </a:r>
            <a:r>
              <a:rPr sz="2025" b="1">
                <a:solidFill>
                  <a:srgbClr val="7653CF"/>
                </a:solidFill>
                <a:latin typeface="Microsoft YaHei"/>
                <a:ea typeface="Microsoft YaHei"/>
              </a:rPr>
              <a:t>、</a:t>
            </a:r>
            <a:r>
              <a:rPr sz="2025" b="1">
                <a:solidFill>
                  <a:srgbClr val="7653CF"/>
                </a:solidFill>
                <a:latin typeface="Arial"/>
                <a:ea typeface="Microsoft YaHei"/>
              </a:rPr>
              <a:t>B</a:t>
            </a:r>
            <a:r>
              <a:rPr sz="2025" b="1">
                <a:solidFill>
                  <a:srgbClr val="7653CF"/>
                </a:solidFill>
                <a:latin typeface="Microsoft YaHei"/>
                <a:ea typeface="Microsoft YaHei"/>
              </a:rPr>
              <a:t>、</a:t>
            </a:r>
            <a:r>
              <a:rPr sz="2025" b="1">
                <a:solidFill>
                  <a:srgbClr val="7653CF"/>
                </a:solidFill>
                <a:latin typeface="Arial"/>
                <a:ea typeface="Microsoft YaHei"/>
              </a:rPr>
              <a:t>Vg</a:t>
            </a:r>
            <a:r>
              <a:rPr sz="2025" b="1">
                <a:solidFill>
                  <a:srgbClr val="7653CF"/>
                </a:solidFill>
                <a:latin typeface="Microsoft YaHei"/>
                <a:ea typeface="Microsoft YaHei"/>
              </a:rPr>
              <a:t> 扫描暗态非线性 </a:t>
            </a:r>
            <a:r>
              <a:rPr sz="2025" b="1">
                <a:solidFill>
                  <a:srgbClr val="7653CF"/>
                </a:solidFill>
                <a:latin typeface="Arial"/>
                <a:ea typeface="Microsoft YaHei"/>
              </a:rPr>
              <a:t>Hall</a:t>
            </a:r>
            <a:r>
              <a:rPr sz="2025" b="1">
                <a:solidFill>
                  <a:srgbClr val="7653CF"/>
                </a:solidFill>
                <a:latin typeface="Microsoft YaHei"/>
                <a:ea typeface="Microsoft YaHei"/>
              </a:rPr>
              <a:t>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" y="2414111"/>
            <a:ext cx="7864408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7653CF"/>
                </a:solidFill>
                <a:latin typeface="Microsoft YaHei"/>
                <a:ea typeface="Microsoft YaHei"/>
              </a:rPr>
              <a:t>再在对应环境点做 </a:t>
            </a:r>
            <a:r>
              <a:rPr sz="2025" b="1">
                <a:solidFill>
                  <a:srgbClr val="7653CF"/>
                </a:solidFill>
                <a:latin typeface="Arial"/>
                <a:ea typeface="Microsoft YaHei"/>
              </a:rPr>
              <a:t>730</a:t>
            </a:r>
            <a:r>
              <a:rPr sz="2025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2025" b="1">
                <a:solidFill>
                  <a:srgbClr val="7653CF"/>
                </a:solidFill>
                <a:latin typeface="Arial"/>
                <a:ea typeface="Microsoft YaHei"/>
              </a:rPr>
              <a:t>nm</a:t>
            </a:r>
            <a:r>
              <a:rPr sz="2025" b="1">
                <a:solidFill>
                  <a:srgbClr val="7653CF"/>
                </a:solidFill>
                <a:latin typeface="Microsoft YaHei"/>
                <a:ea typeface="Microsoft YaHei"/>
              </a:rPr>
              <a:t> 的功率与偏振依赖，并加入返回参考。</a:t>
            </a:r>
            <a:r>
              <a:rPr sz="2025" b="1">
                <a:solidFill>
                  <a:srgbClr val="7653CF"/>
                </a:solidFill>
                <a:latin typeface="Arial"/>
                <a:ea typeface="Microsoft YaHei"/>
              </a:rPr>
              <a:t>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" y="3467100"/>
            <a:ext cx="2095500" cy="1219200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2050" y="3590925"/>
            <a:ext cx="876300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描述目标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9341" y="3889533"/>
            <a:ext cx="1121717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样品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科学问题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9850" y="4076700"/>
            <a:ext cx="152400" cy="0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reeform 12"/>
          <p:cNvSpPr/>
          <p:nvPr/>
        </p:nvSpPr>
        <p:spPr>
          <a:xfrm>
            <a:off x="2705100" y="40513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81300" y="3467100"/>
            <a:ext cx="2095500" cy="1219200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3590925"/>
            <a:ext cx="876300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核对准备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732" y="3889533"/>
            <a:ext cx="1252835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设备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接线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参数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6800" y="4076700"/>
            <a:ext cx="152400" cy="0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78400" y="4051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48250" y="3467100"/>
            <a:ext cx="2095500" cy="1219200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5950" y="3590925"/>
            <a:ext cx="876300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审阅计划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7682" y="3889533"/>
            <a:ext cx="1252835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阶段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范围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对照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43750" y="4076700"/>
            <a:ext cx="152400" cy="0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7239000" y="4051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0" y="3467100"/>
            <a:ext cx="2095500" cy="1219200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2900" y="3590925"/>
            <a:ext cx="876300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协同执行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4632" y="3889533"/>
            <a:ext cx="1252835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状态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数据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异常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10700" y="4076700"/>
            <a:ext cx="152400" cy="0"/>
          </a:xfrm>
          <a:prstGeom prst="line">
            <a:avLst/>
          </a:prstGeom>
          <a:ln w="2095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9499600" y="40513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82150" y="3467100"/>
            <a:ext cx="2095500" cy="1219200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29850" y="3590925"/>
            <a:ext cx="876300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查看复盘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1582" y="3889533"/>
            <a:ext cx="1252835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证据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解释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建议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850" y="5153025"/>
            <a:ext cx="6225703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PC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端配置：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PC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身份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仪器连接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驱动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现用代码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数据目录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850" y="5448776"/>
            <a:ext cx="6447773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中央端配置：实验目标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样品条件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扫描范围 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 阶段与结束策略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350" y="5886450"/>
            <a:ext cx="11163300" cy="514350"/>
          </a:xfrm>
          <a:prstGeom prst="roundRect">
            <a:avLst>
              <a:gd name="adj" fmla="val 1666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5325" y="6000750"/>
            <a:ext cx="7595136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研究者把精力放在实验设计与判断；中央与本地 </a:t>
            </a:r>
            <a:r>
              <a:rPr sz="1650" b="1">
                <a:solidFill>
                  <a:srgbClr val="168D9D"/>
                </a:solidFill>
                <a:latin typeface="Arial"/>
                <a:ea typeface="Microsoft YaHei"/>
              </a:rPr>
              <a:t>Agent</a:t>
            </a: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 负责组织、执行和留痕。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23875" y="6619875"/>
            <a:ext cx="2605738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非线性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Hall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×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BVPE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系统能力与应用场景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58C"/>
                </a:solidFill>
                <a:latin typeface="Arial"/>
                <a:ea typeface="Microsoft YaHei"/>
              </a:rPr>
              <a:t>15/19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95275"/>
            <a:ext cx="1912232" cy="1733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15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REUSE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EXISTING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676275"/>
            <a:ext cx="7277100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把已有测试脚本，封装成可以跨实验复用的能力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47775"/>
            <a:ext cx="5505450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本地控制环境继续发挥作用；中央通过统一操作描述组合这些能力。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4350" y="1952625"/>
            <a:ext cx="3181350" cy="2886075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4350" y="2114550"/>
            <a:ext cx="38100" cy="314325"/>
          </a:xfrm>
          <a:prstGeom prst="rect">
            <a:avLst/>
          </a:pr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850" y="2105025"/>
            <a:ext cx="19050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653CF"/>
                </a:solidFill>
                <a:latin typeface="Microsoft YaHei"/>
                <a:ea typeface="Microsoft YaHei"/>
              </a:rPr>
              <a:t>现用仪器测试代码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543175"/>
            <a:ext cx="16764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连接和设备识别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2851785"/>
            <a:ext cx="1873076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读状态 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设置参数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3160395"/>
            <a:ext cx="16764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采集和原始保存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469004"/>
            <a:ext cx="2101676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异常处理 </a:t>
            </a: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关闭输出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5325" y="1952625"/>
            <a:ext cx="3181350" cy="2886075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05325" y="2114550"/>
            <a:ext cx="38100" cy="314325"/>
          </a:xfrm>
          <a:prstGeom prst="rect">
            <a:avLst/>
          </a:pr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5825" y="2105025"/>
            <a:ext cx="19050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8D9D"/>
                </a:solidFill>
                <a:latin typeface="Microsoft YaHei"/>
                <a:ea typeface="Microsoft YaHei"/>
              </a:rPr>
              <a:t>本地仪器能力封装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5825" y="2543175"/>
            <a:ext cx="1962015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connect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5825" y="2864643"/>
            <a:ext cx="1314961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set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settle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5825" y="3186112"/>
            <a:ext cx="1727959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acquire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save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5825" y="3507581"/>
            <a:ext cx="1471579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stop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875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875" b="0">
                <a:solidFill>
                  <a:srgbClr val="23364D"/>
                </a:solidFill>
                <a:latin typeface="Arial"/>
                <a:ea typeface="Microsoft YaHei"/>
              </a:rPr>
              <a:t>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96300" y="1952625"/>
            <a:ext cx="3181350" cy="2886075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96300" y="2114550"/>
            <a:ext cx="38100" cy="314325"/>
          </a:xfrm>
          <a:prstGeom prst="rect">
            <a:avLst/>
          </a:prstGeom>
          <a:solidFill>
            <a:srgbClr val="3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2105025"/>
            <a:ext cx="16764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B6CB0"/>
                </a:solidFill>
                <a:latin typeface="Microsoft YaHei"/>
                <a:ea typeface="Microsoft YaHei"/>
              </a:rPr>
              <a:t>中央可组合任务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543175"/>
            <a:ext cx="14478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环境准备阶段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851785"/>
            <a:ext cx="1489434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Hall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测量阶段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160395"/>
            <a:ext cx="1447800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光学标定阶段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469004"/>
            <a:ext cx="1874527" cy="320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64D"/>
                </a:solidFill>
                <a:latin typeface="Arial"/>
                <a:ea typeface="Microsoft YaHei"/>
              </a:rPr>
              <a:t>BVPE</a:t>
            </a:r>
            <a:r>
              <a:rPr sz="1800" b="0">
                <a:solidFill>
                  <a:srgbClr val="23364D"/>
                </a:solidFill>
                <a:latin typeface="Microsoft YaHei"/>
                <a:ea typeface="Microsoft YaHei"/>
              </a:rPr>
              <a:t> 与返回对照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695700" y="3333750"/>
            <a:ext cx="809625" cy="0"/>
          </a:xfrm>
          <a:prstGeom prst="line">
            <a:avLst/>
          </a:prstGeom>
          <a:ln w="2857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4419600" y="32893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7" y="3"/>
                </a:moveTo>
                <a:lnTo>
                  <a:pt x="0" y="0"/>
                </a:lnTo>
                <a:lnTo>
                  <a:pt x="0" y="7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7686675" y="3333750"/>
            <a:ext cx="809625" cy="0"/>
          </a:xfrm>
          <a:prstGeom prst="line">
            <a:avLst/>
          </a:prstGeom>
          <a:ln w="28575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8407400" y="32893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7" y="3"/>
                </a:moveTo>
                <a:lnTo>
                  <a:pt x="0" y="0"/>
                </a:lnTo>
                <a:lnTo>
                  <a:pt x="0" y="7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325" y="5200650"/>
            <a:ext cx="8847115" cy="306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协议、代码版本与测试记录也进入资料库：让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“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这台设备如何可靠测量</a:t>
            </a:r>
            <a:r>
              <a:rPr sz="1725" b="0">
                <a:solidFill>
                  <a:srgbClr val="23364D"/>
                </a:solidFill>
                <a:latin typeface="Arial"/>
                <a:ea typeface="Microsoft YaHei"/>
              </a:rPr>
              <a:t>”</a:t>
            </a:r>
            <a:r>
              <a:rPr sz="1725" b="0">
                <a:solidFill>
                  <a:srgbClr val="23364D"/>
                </a:solidFill>
                <a:latin typeface="Microsoft YaHei"/>
                <a:ea typeface="Microsoft YaHei"/>
              </a:rPr>
              <a:t>成为可积累的知识。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4350" y="5886450"/>
            <a:ext cx="11163300" cy="514350"/>
          </a:xfrm>
          <a:prstGeom prst="roundRect">
            <a:avLst>
              <a:gd name="adj" fmla="val 1666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325" y="6000750"/>
            <a:ext cx="7200900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同一套设备能力可以参与多个实验，原有控制代码可以逐步沉淀为统一接口。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3875" y="6619875"/>
            <a:ext cx="2605738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非线性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Hall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×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BVPE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系统能力与应用场景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58C"/>
                </a:solidFill>
                <a:latin typeface="Arial"/>
                <a:ea typeface="Microsoft YaHei"/>
              </a:rPr>
              <a:t>16/19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95275"/>
            <a:ext cx="1120610" cy="1733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16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SCALE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676275"/>
            <a:ext cx="7616651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从两台 </a:t>
            </a:r>
            <a:r>
              <a:rPr sz="2700" b="1">
                <a:solidFill>
                  <a:srgbClr val="11233E"/>
                </a:solidFill>
                <a:latin typeface="Arial"/>
                <a:ea typeface="Microsoft YaHei"/>
              </a:rPr>
              <a:t>PC</a:t>
            </a: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 扩展到更多实验台，沿用相同协同方式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47775"/>
            <a:ext cx="6280337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扩展的单位是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“PC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Agent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+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设备能力 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+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 实验记录</a:t>
            </a:r>
            <a:r>
              <a:rPr sz="1425" b="0">
                <a:solidFill>
                  <a:srgbClr val="62758C"/>
                </a:solidFill>
                <a:latin typeface="Arial"/>
                <a:ea typeface="Microsoft YaHei"/>
              </a:rPr>
              <a:t>”</a:t>
            </a: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，而不只是远程桌面数量。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1500" y="1933575"/>
            <a:ext cx="3429000" cy="876300"/>
          </a:xfrm>
          <a:prstGeom prst="roundRect">
            <a:avLst>
              <a:gd name="adj" fmla="val 10869"/>
            </a:avLst>
          </a:prstGeom>
          <a:solidFill>
            <a:srgbClr val="F1ECFC"/>
          </a:solidFill>
          <a:ln w="13334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7159" y="2057400"/>
            <a:ext cx="3173880" cy="3467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7653CF"/>
                </a:solidFill>
                <a:latin typeface="Microsoft YaHei"/>
                <a:ea typeface="Microsoft YaHei"/>
              </a:rPr>
              <a:t>中央 </a:t>
            </a:r>
            <a:r>
              <a:rPr sz="1950" b="1">
                <a:solidFill>
                  <a:srgbClr val="7653CF"/>
                </a:solidFill>
                <a:latin typeface="Arial"/>
                <a:ea typeface="Microsoft YaHei"/>
              </a:rPr>
              <a:t>Agent</a:t>
            </a:r>
            <a:r>
              <a:rPr sz="19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950" b="1">
                <a:solidFill>
                  <a:srgbClr val="7653CF"/>
                </a:solidFill>
                <a:latin typeface="Arial"/>
                <a:ea typeface="Microsoft YaHei"/>
              </a:rPr>
              <a:t>/</a:t>
            </a:r>
            <a:r>
              <a:rPr sz="1950" b="1">
                <a:solidFill>
                  <a:srgbClr val="7653CF"/>
                </a:solidFill>
                <a:latin typeface="Microsoft YaHei"/>
                <a:ea typeface="Microsoft YaHei"/>
              </a:rPr>
              <a:t> 统一实验记录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7184" y="2420302"/>
            <a:ext cx="231383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资源目录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·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阶段编排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·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质量与复盘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809875"/>
            <a:ext cx="0" cy="400050"/>
          </a:xfrm>
          <a:prstGeom prst="line">
            <a:avLst/>
          </a:prstGeom>
          <a:ln w="20002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743075" y="3209925"/>
            <a:ext cx="4352925" cy="0"/>
          </a:xfrm>
          <a:prstGeom prst="line">
            <a:avLst/>
          </a:prstGeom>
          <a:ln w="20002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43075" y="3209925"/>
            <a:ext cx="0" cy="447675"/>
          </a:xfrm>
          <a:prstGeom prst="line">
            <a:avLst/>
          </a:prstGeom>
          <a:ln w="20002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1701800" y="35687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6" y="0"/>
                </a:lnTo>
                <a:lnTo>
                  <a:pt x="0" y="0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7700" y="3657600"/>
            <a:ext cx="2143125" cy="1200150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7479" y="3781425"/>
            <a:ext cx="719765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20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2025" b="1">
                <a:solidFill>
                  <a:srgbClr val="168D9D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8262" y="4157186"/>
            <a:ext cx="8382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光源与光谱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" y="2809875"/>
            <a:ext cx="0" cy="400050"/>
          </a:xfrm>
          <a:prstGeom prst="line">
            <a:avLst/>
          </a:prstGeom>
          <a:ln w="20002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657725" y="3209925"/>
            <a:ext cx="1438275" cy="0"/>
          </a:xfrm>
          <a:prstGeom prst="line">
            <a:avLst/>
          </a:prstGeom>
          <a:ln w="20002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57725" y="3209925"/>
            <a:ext cx="0" cy="447675"/>
          </a:xfrm>
          <a:prstGeom prst="line">
            <a:avLst/>
          </a:prstGeom>
          <a:ln w="20002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4622800" y="35687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6" y="0"/>
                </a:lnTo>
                <a:lnTo>
                  <a:pt x="0" y="0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62350" y="3657600"/>
            <a:ext cx="2143125" cy="1200150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3636" y="3781425"/>
            <a:ext cx="716751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20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2025" b="1">
                <a:solidFill>
                  <a:srgbClr val="168D9D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4470" y="4157186"/>
            <a:ext cx="1275084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低温输运与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BVPE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6000" y="2809875"/>
            <a:ext cx="0" cy="400050"/>
          </a:xfrm>
          <a:prstGeom prst="line">
            <a:avLst/>
          </a:prstGeom>
          <a:ln w="20002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96000" y="3209925"/>
            <a:ext cx="1476375" cy="0"/>
          </a:xfrm>
          <a:prstGeom prst="line">
            <a:avLst/>
          </a:prstGeom>
          <a:ln w="20002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72375" y="3209925"/>
            <a:ext cx="0" cy="447675"/>
          </a:xfrm>
          <a:prstGeom prst="line">
            <a:avLst/>
          </a:prstGeom>
          <a:ln w="20002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7531100" y="35687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6" y="0"/>
                </a:lnTo>
                <a:lnTo>
                  <a:pt x="0" y="0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77000" y="3657600"/>
            <a:ext cx="2143125" cy="1200150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1928" y="3781425"/>
            <a:ext cx="709468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20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2025" b="1">
                <a:solidFill>
                  <a:srgbClr val="168D9D"/>
                </a:solidFill>
                <a:latin typeface="Arial"/>
                <a:ea typeface="Microsoft YaHei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5803" y="4157186"/>
            <a:ext cx="1121717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扫描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成像能力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6000" y="2809875"/>
            <a:ext cx="0" cy="400050"/>
          </a:xfrm>
          <a:prstGeom prst="line">
            <a:avLst/>
          </a:prstGeom>
          <a:ln w="20002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96000" y="3209925"/>
            <a:ext cx="4391025" cy="0"/>
          </a:xfrm>
          <a:prstGeom prst="line">
            <a:avLst/>
          </a:prstGeom>
          <a:ln w="20002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487025" y="3209925"/>
            <a:ext cx="0" cy="447675"/>
          </a:xfrm>
          <a:prstGeom prst="line">
            <a:avLst/>
          </a:prstGeom>
          <a:ln w="20002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10452100" y="35687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6" y="0"/>
                </a:lnTo>
                <a:lnTo>
                  <a:pt x="0" y="0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91650" y="3657600"/>
            <a:ext cx="2143125" cy="1200150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13334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33330" y="3781425"/>
            <a:ext cx="735964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202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2025" b="1">
                <a:solidFill>
                  <a:srgbClr val="168D9D"/>
                </a:solidFill>
                <a:latin typeface="Arial"/>
                <a:ea typeface="Microsoft YaHei"/>
              </a:rPr>
              <a:t>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8053" y="4157186"/>
            <a:ext cx="1426517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另一实验台 </a:t>
            </a:r>
            <a:r>
              <a:rPr sz="1200" b="0">
                <a:solidFill>
                  <a:srgbClr val="62758C"/>
                </a:solidFill>
                <a:latin typeface="Arial"/>
                <a:ea typeface="Microsoft YaHei"/>
              </a:rPr>
              <a:t>/</a:t>
            </a:r>
            <a:r>
              <a:rPr sz="1200" b="0">
                <a:solidFill>
                  <a:srgbClr val="62758C"/>
                </a:solidFill>
                <a:latin typeface="Microsoft YaHei"/>
                <a:ea typeface="Microsoft YaHei"/>
              </a:rPr>
              <a:t> 新仪器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43125" y="5257800"/>
            <a:ext cx="2324100" cy="326707"/>
          </a:xfrm>
          <a:prstGeom prst="roundRect">
            <a:avLst>
              <a:gd name="adj" fmla="val 4081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33650" y="5305425"/>
            <a:ext cx="1619250" cy="240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8D9D"/>
                </a:solidFill>
                <a:latin typeface="Microsoft YaHei"/>
                <a:ea typeface="Microsoft YaHei"/>
              </a:rPr>
              <a:t>统一资源与能力目录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14900" y="5257800"/>
            <a:ext cx="2324100" cy="326707"/>
          </a:xfrm>
          <a:prstGeom prst="roundRect">
            <a:avLst>
              <a:gd name="adj" fmla="val 4081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77712" y="5305425"/>
            <a:ext cx="1274675" cy="240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8D9D"/>
                </a:solidFill>
                <a:latin typeface="Microsoft YaHei"/>
                <a:ea typeface="Microsoft YaHei"/>
              </a:rPr>
              <a:t>跨 </a:t>
            </a:r>
            <a:r>
              <a:rPr sz="1350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350" b="1">
                <a:solidFill>
                  <a:srgbClr val="168D9D"/>
                </a:solidFill>
                <a:latin typeface="Microsoft YaHei"/>
                <a:ea typeface="Microsoft YaHei"/>
              </a:rPr>
              <a:t> 阶段依赖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6675" y="5257800"/>
            <a:ext cx="2324100" cy="326707"/>
          </a:xfrm>
          <a:prstGeom prst="roundRect">
            <a:avLst>
              <a:gd name="adj" fmla="val 4081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48650" y="5305425"/>
            <a:ext cx="1276350" cy="240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8D9D"/>
                </a:solidFill>
                <a:latin typeface="Microsoft YaHei"/>
                <a:ea typeface="Microsoft YaHei"/>
              </a:rPr>
              <a:t>统一数据与证据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4350" y="5886450"/>
            <a:ext cx="11163300" cy="514350"/>
          </a:xfrm>
          <a:prstGeom prst="roundRect">
            <a:avLst>
              <a:gd name="adj" fmla="val 1666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325" y="6000750"/>
            <a:ext cx="7749843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新增设备接入本地 </a:t>
            </a:r>
            <a:r>
              <a:rPr sz="1650" b="1">
                <a:solidFill>
                  <a:srgbClr val="168D9D"/>
                </a:solidFill>
                <a:latin typeface="Arial"/>
                <a:ea typeface="Microsoft YaHei"/>
              </a:rPr>
              <a:t>Agent</a:t>
            </a:r>
            <a:r>
              <a:rPr sz="1650" b="1">
                <a:solidFill>
                  <a:srgbClr val="168D9D"/>
                </a:solidFill>
                <a:latin typeface="Microsoft YaHei"/>
                <a:ea typeface="Microsoft YaHei"/>
              </a:rPr>
              <a:t>，新增实验复用已有能力，中央继续围绕研究问题编排。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23875" y="6619875"/>
            <a:ext cx="2605738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非线性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Hall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×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BVPE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系统能力与应用场景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58C"/>
                </a:solidFill>
                <a:latin typeface="Arial"/>
                <a:ea typeface="Microsoft YaHei"/>
              </a:rPr>
              <a:t>17/19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0550" y="428625"/>
            <a:ext cx="1866900" cy="295275"/>
          </a:xfrm>
          <a:prstGeom prst="roundRect">
            <a:avLst>
              <a:gd name="adj" fmla="val 45161"/>
            </a:avLst>
          </a:prstGeom>
          <a:solidFill>
            <a:srgbClr val="263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163" y="476250"/>
            <a:ext cx="1625872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BA5FF"/>
                </a:solidFill>
                <a:latin typeface="Arial"/>
                <a:ea typeface="Microsoft YaHei"/>
              </a:rPr>
              <a:t>LABOS</a:t>
            </a:r>
            <a:r>
              <a:rPr sz="1050" b="1">
                <a:solidFill>
                  <a:srgbClr val="BBA5FF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BBA5FF"/>
                </a:solidFill>
                <a:latin typeface="Arial"/>
                <a:ea typeface="Microsoft YaHei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1200150"/>
            <a:ext cx="4674710" cy="6000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6"/>
              </a:lnSpc>
              <a:spcBef>
                <a:spcPts val="0"/>
              </a:spcBef>
              <a:spcAft>
                <a:spcPts val="0"/>
              </a:spcAft>
            </a:pPr>
            <a:r>
              <a:rPr sz="3375" b="1">
                <a:solidFill>
                  <a:srgbClr val="FFFFFF"/>
                </a:solidFill>
                <a:latin typeface="Microsoft YaHei"/>
                <a:ea typeface="Microsoft YaHei"/>
              </a:rPr>
              <a:t>一份计划，协同多台 </a:t>
            </a:r>
            <a:r>
              <a:rPr sz="3375" b="1">
                <a:solidFill>
                  <a:srgbClr val="FFFFFF"/>
                </a:solidFill>
                <a:latin typeface="Arial"/>
                <a:ea typeface="Microsoft YaHei"/>
              </a:rPr>
              <a:t>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1778793"/>
            <a:ext cx="5219700" cy="6000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6"/>
              </a:lnSpc>
              <a:spcBef>
                <a:spcPts val="0"/>
              </a:spcBef>
              <a:spcAft>
                <a:spcPts val="0"/>
              </a:spcAft>
            </a:pPr>
            <a:r>
              <a:rPr sz="3375" b="1">
                <a:solidFill>
                  <a:srgbClr val="FFFFFF"/>
                </a:solidFill>
                <a:latin typeface="Microsoft YaHei"/>
                <a:ea typeface="Microsoft YaHei"/>
              </a:rPr>
              <a:t>一条证据链，连接多种响应</a:t>
            </a:r>
          </a:p>
        </p:txBody>
      </p:sp>
      <p:sp>
        <p:nvSpPr>
          <p:cNvPr id="7" name="Oval 6"/>
          <p:cNvSpPr/>
          <p:nvPr/>
        </p:nvSpPr>
        <p:spPr>
          <a:xfrm>
            <a:off x="647700" y="3343275"/>
            <a:ext cx="171450" cy="171450"/>
          </a:xfrm>
          <a:prstGeom prst="ellipse">
            <a:avLst/>
          </a:prstGeom>
          <a:solidFill>
            <a:srgbClr val="5FC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125" y="3267075"/>
            <a:ext cx="1454627" cy="3867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71D8DF"/>
                </a:solidFill>
                <a:latin typeface="Microsoft YaHei"/>
                <a:ea typeface="Microsoft YaHei"/>
              </a:rPr>
              <a:t>跨 </a:t>
            </a:r>
            <a:r>
              <a:rPr sz="2175" b="1">
                <a:solidFill>
                  <a:srgbClr val="71D8DF"/>
                </a:solidFill>
                <a:latin typeface="Arial"/>
                <a:ea typeface="Microsoft YaHei"/>
              </a:rPr>
              <a:t>PC</a:t>
            </a:r>
            <a:r>
              <a:rPr sz="2175" b="1">
                <a:solidFill>
                  <a:srgbClr val="71D8DF"/>
                </a:solidFill>
                <a:latin typeface="Microsoft YaHei"/>
                <a:ea typeface="Microsoft YaHei"/>
              </a:rPr>
              <a:t> 协同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7625" y="3295650"/>
            <a:ext cx="4124325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BDCEE4"/>
                </a:solidFill>
                <a:latin typeface="Microsoft YaHei"/>
                <a:ea typeface="Microsoft YaHei"/>
              </a:rPr>
              <a:t>光源、环境、锁相与偏振资源统一组织</a:t>
            </a:r>
          </a:p>
        </p:txBody>
      </p:sp>
      <p:sp>
        <p:nvSpPr>
          <p:cNvPr id="10" name="Oval 9"/>
          <p:cNvSpPr/>
          <p:nvPr/>
        </p:nvSpPr>
        <p:spPr>
          <a:xfrm>
            <a:off x="647700" y="4191000"/>
            <a:ext cx="171450" cy="171450"/>
          </a:xfrm>
          <a:prstGeom prst="ellipse">
            <a:avLst/>
          </a:prstGeom>
          <a:solidFill>
            <a:srgbClr val="5FC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0125" y="4114800"/>
            <a:ext cx="1733550" cy="3867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71D8DF"/>
                </a:solidFill>
                <a:latin typeface="Microsoft YaHei"/>
                <a:ea typeface="Microsoft YaHei"/>
              </a:rPr>
              <a:t>围绕科学问题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7625" y="4143375"/>
            <a:ext cx="4436398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BDCEE4"/>
                </a:solidFill>
                <a:latin typeface="Arial"/>
                <a:ea typeface="Microsoft YaHei"/>
              </a:rPr>
              <a:t>Hall</a:t>
            </a:r>
            <a:r>
              <a:rPr sz="1875" b="0">
                <a:solidFill>
                  <a:srgbClr val="BDCEE4"/>
                </a:solidFill>
                <a:latin typeface="Microsoft YaHei"/>
                <a:ea typeface="Microsoft YaHei"/>
              </a:rPr>
              <a:t> 与 </a:t>
            </a:r>
            <a:r>
              <a:rPr sz="1875" b="0">
                <a:solidFill>
                  <a:srgbClr val="BDCEE4"/>
                </a:solidFill>
                <a:latin typeface="Arial"/>
                <a:ea typeface="Microsoft YaHei"/>
              </a:rPr>
              <a:t>BVPE</a:t>
            </a:r>
            <a:r>
              <a:rPr sz="1875" b="0">
                <a:solidFill>
                  <a:srgbClr val="BDCEE4"/>
                </a:solidFill>
                <a:latin typeface="Microsoft YaHei"/>
                <a:ea typeface="Microsoft YaHei"/>
              </a:rPr>
              <a:t> 的阶段、对照和变量可组合</a:t>
            </a:r>
          </a:p>
        </p:txBody>
      </p:sp>
      <p:sp>
        <p:nvSpPr>
          <p:cNvPr id="13" name="Oval 12"/>
          <p:cNvSpPr/>
          <p:nvPr/>
        </p:nvSpPr>
        <p:spPr>
          <a:xfrm>
            <a:off x="647700" y="5038725"/>
            <a:ext cx="171450" cy="171450"/>
          </a:xfrm>
          <a:prstGeom prst="ellipse">
            <a:avLst/>
          </a:prstGeom>
          <a:solidFill>
            <a:srgbClr val="5FC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0125" y="4962525"/>
            <a:ext cx="1457325" cy="3867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71D8DF"/>
                </a:solidFill>
                <a:latin typeface="Microsoft YaHei"/>
                <a:ea typeface="Microsoft YaHei"/>
              </a:rPr>
              <a:t>结果可追溯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7625" y="4991100"/>
            <a:ext cx="3886200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BDCEE4"/>
                </a:solidFill>
                <a:latin typeface="Microsoft YaHei"/>
                <a:ea typeface="Microsoft YaHei"/>
              </a:rPr>
              <a:t>条件、原始值、质量与解释共同保存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096000"/>
            <a:ext cx="6273589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DCEE4"/>
                </a:solidFill>
                <a:latin typeface="Microsoft YaHei"/>
                <a:ea typeface="Microsoft YaHei"/>
              </a:rPr>
              <a:t>非线性 </a:t>
            </a:r>
            <a:r>
              <a:rPr sz="1500" b="0">
                <a:solidFill>
                  <a:srgbClr val="BDCEE4"/>
                </a:solidFill>
                <a:latin typeface="Arial"/>
                <a:ea typeface="Microsoft YaHei"/>
              </a:rPr>
              <a:t>Hall</a:t>
            </a:r>
            <a:r>
              <a:rPr sz="1500" b="0">
                <a:solidFill>
                  <a:srgbClr val="BDCEE4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BDCEE4"/>
                </a:solidFill>
                <a:latin typeface="Arial"/>
                <a:ea typeface="Microsoft YaHei"/>
              </a:rPr>
              <a:t>×</a:t>
            </a:r>
            <a:r>
              <a:rPr sz="1500" b="0">
                <a:solidFill>
                  <a:srgbClr val="BDCEE4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BDCEE4"/>
                </a:solidFill>
                <a:latin typeface="Arial"/>
                <a:ea typeface="Microsoft YaHei"/>
              </a:rPr>
              <a:t>BVPE</a:t>
            </a:r>
            <a:r>
              <a:rPr sz="1500" b="0">
                <a:solidFill>
                  <a:srgbClr val="BDCEE4"/>
                </a:solidFill>
                <a:latin typeface="Microsoft YaHei"/>
                <a:ea typeface="Microsoft YaHei"/>
              </a:rPr>
              <a:t>  </a:t>
            </a:r>
            <a:r>
              <a:rPr sz="1500" b="0">
                <a:solidFill>
                  <a:srgbClr val="BDCEE4"/>
                </a:solidFill>
                <a:latin typeface="Arial"/>
                <a:ea typeface="Microsoft YaHei"/>
              </a:rPr>
              <a:t>|</a:t>
            </a:r>
            <a:r>
              <a:rPr sz="1500" b="0">
                <a:solidFill>
                  <a:srgbClr val="BDCEE4"/>
                </a:solidFill>
                <a:latin typeface="Microsoft YaHei"/>
                <a:ea typeface="Microsoft YaHei"/>
              </a:rPr>
              <a:t>  电激励与光激励，共享同一套实验组织与证据语言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31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3875" y="6619875"/>
            <a:ext cx="2605738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B1C2DA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B1C2DA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B1C2DA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B1C2DA"/>
                </a:solidFill>
                <a:latin typeface="Microsoft YaHei"/>
                <a:ea typeface="Microsoft YaHei"/>
              </a:rPr>
              <a:t>  非线性 </a:t>
            </a:r>
            <a:r>
              <a:rPr sz="825" b="0">
                <a:solidFill>
                  <a:srgbClr val="B1C2DA"/>
                </a:solidFill>
                <a:latin typeface="Arial"/>
                <a:ea typeface="Microsoft YaHei"/>
              </a:rPr>
              <a:t>Hall</a:t>
            </a:r>
            <a:r>
              <a:rPr sz="825" b="0">
                <a:solidFill>
                  <a:srgbClr val="B1C2DA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B1C2DA"/>
                </a:solidFill>
                <a:latin typeface="Arial"/>
                <a:ea typeface="Microsoft YaHei"/>
              </a:rPr>
              <a:t>×</a:t>
            </a:r>
            <a:r>
              <a:rPr sz="825" b="0">
                <a:solidFill>
                  <a:srgbClr val="B1C2DA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B1C2DA"/>
                </a:solidFill>
                <a:latin typeface="Arial"/>
                <a:ea typeface="Microsoft YaHei"/>
              </a:rPr>
              <a:t>BVPE</a:t>
            </a:r>
            <a:r>
              <a:rPr sz="825" b="0">
                <a:solidFill>
                  <a:srgbClr val="B1C2DA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B1C2DA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B1C2DA"/>
                </a:solidFill>
                <a:latin typeface="Microsoft YaHei"/>
                <a:ea typeface="Microsoft YaHei"/>
              </a:rPr>
              <a:t>  系统能力与应用场景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1C2DA"/>
                </a:solidFill>
                <a:latin typeface="Arial"/>
                <a:ea typeface="Microsoft YaHei"/>
              </a:rPr>
              <a:t>18/19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95275"/>
            <a:ext cx="1551096" cy="1733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APPENDIX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9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975" b="1">
                <a:solidFill>
                  <a:srgbClr val="168D9D"/>
                </a:solidFill>
                <a:latin typeface="Arial"/>
                <a:ea typeface="Microsoft YaHei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676275"/>
            <a:ext cx="2476500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233E"/>
                </a:solidFill>
                <a:latin typeface="Microsoft YaHei"/>
                <a:ea typeface="Microsoft YaHei"/>
              </a:rPr>
              <a:t>参考与图示说明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47775"/>
            <a:ext cx="6048375" cy="2533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58C"/>
                </a:solidFill>
                <a:latin typeface="Microsoft YaHei"/>
                <a:ea typeface="Microsoft YaHei"/>
              </a:rPr>
              <a:t>框架表达参考论文；全部系统、光路、电路与时序图均按本场景重新绘制。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" y="1847850"/>
            <a:ext cx="1250663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Arial"/>
                <a:ea typeface="Microsoft YaHei"/>
              </a:rPr>
              <a:t>[1]</a:t>
            </a: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 系统框架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2143125"/>
            <a:ext cx="6698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Rha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et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al.,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Autonomous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Quantum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Measurement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with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Agentic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AI,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2419350"/>
            <a:ext cx="2753101" cy="2266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B6CB0"/>
                </a:solidFill>
                <a:latin typeface="Arial"/>
                <a:hlinkClick r:id="rId2"/>
                <a:ea typeface="Microsoft YaHei"/>
              </a:rPr>
              <a:t>https://arxiv.org/abs/2610.38850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2743200"/>
            <a:ext cx="1994896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Arial"/>
                <a:ea typeface="Microsoft YaHei"/>
              </a:rPr>
              <a:t>[2]</a:t>
            </a: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 非线性 </a:t>
            </a:r>
            <a:r>
              <a:rPr sz="1575" b="1">
                <a:solidFill>
                  <a:srgbClr val="168D9D"/>
                </a:solidFill>
                <a:latin typeface="Arial"/>
                <a:ea typeface="Microsoft YaHei"/>
              </a:rPr>
              <a:t>Hall</a:t>
            </a: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 理论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3038475"/>
            <a:ext cx="582180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Sodemann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&amp;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Fu,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Physical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Review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Letters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115,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216806,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2015.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3314700"/>
            <a:ext cx="4037432" cy="2266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B6CB0"/>
                </a:solidFill>
                <a:latin typeface="Arial"/>
                <a:hlinkClick r:id="rId3"/>
                <a:ea typeface="Microsoft YaHei"/>
              </a:rPr>
              <a:t>https://doi.org/10.1103/PhysRevLett.115.216806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3638550"/>
            <a:ext cx="1994896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Arial"/>
                <a:ea typeface="Microsoft YaHei"/>
              </a:rPr>
              <a:t>[3]</a:t>
            </a: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 非线性 </a:t>
            </a:r>
            <a:r>
              <a:rPr sz="1575" b="1">
                <a:solidFill>
                  <a:srgbClr val="168D9D"/>
                </a:solidFill>
                <a:latin typeface="Arial"/>
                <a:ea typeface="Microsoft YaHei"/>
              </a:rPr>
              <a:t>Hall</a:t>
            </a: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 实验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" y="3933825"/>
            <a:ext cx="364184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Ma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et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al.,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Nature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565,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337–342,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2019.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4210050"/>
            <a:ext cx="3600994" cy="2266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B6CB0"/>
                </a:solidFill>
                <a:latin typeface="Arial"/>
                <a:hlinkClick r:id="rId4"/>
                <a:ea typeface="Microsoft YaHei"/>
              </a:rPr>
              <a:t>https://doi.org/10.1038/s41586-018-0807-6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4533900"/>
            <a:ext cx="1493466" cy="280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68D9D"/>
                </a:solidFill>
                <a:latin typeface="Arial"/>
                <a:ea typeface="Microsoft YaHei"/>
              </a:rPr>
              <a:t>[4]</a:t>
            </a: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575" b="1">
                <a:solidFill>
                  <a:srgbClr val="168D9D"/>
                </a:solidFill>
                <a:latin typeface="Arial"/>
                <a:ea typeface="Microsoft YaHei"/>
              </a:rPr>
              <a:t>BVPE</a:t>
            </a:r>
            <a:r>
              <a:rPr sz="1575" b="1">
                <a:solidFill>
                  <a:srgbClr val="168D9D"/>
                </a:solidFill>
                <a:latin typeface="Microsoft YaHei"/>
                <a:ea typeface="Microsoft YaHei"/>
              </a:rPr>
              <a:t> 实验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" y="4829175"/>
            <a:ext cx="5235606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Osterhoudt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et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al.,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Nature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Materials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18,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471–475,</a:t>
            </a:r>
            <a:r>
              <a:rPr sz="15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500" b="0">
                <a:solidFill>
                  <a:srgbClr val="23364D"/>
                </a:solidFill>
                <a:latin typeface="Arial"/>
                <a:ea typeface="Microsoft YaHei"/>
              </a:rPr>
              <a:t>2019.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" y="5105400"/>
            <a:ext cx="3600994" cy="2266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B6CB0"/>
                </a:solidFill>
                <a:latin typeface="Arial"/>
                <a:hlinkClick r:id="rId5"/>
                <a:ea typeface="Microsoft YaHei"/>
              </a:rPr>
              <a:t>https://doi.org/10.1038/s41563-019-0297-4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350" y="5886450"/>
            <a:ext cx="11163300" cy="514350"/>
          </a:xfrm>
          <a:prstGeom prst="roundRect">
            <a:avLst>
              <a:gd name="adj" fmla="val 1666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" y="6000750"/>
            <a:ext cx="75057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8D9D"/>
                </a:solidFill>
                <a:latin typeface="Microsoft YaHei"/>
                <a:ea typeface="Microsoft YaHei"/>
              </a:rPr>
              <a:t>设备清单与激励方式：用户提供并确认。图中的设备接口、阶段和参数按实验配置组织。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4350" y="6543675"/>
            <a:ext cx="11163300" cy="0"/>
          </a:xfrm>
          <a:prstGeom prst="line">
            <a:avLst/>
          </a:prstGeom>
          <a:ln w="9525">
            <a:solidFill>
              <a:srgbClr val="D9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3875" y="6619875"/>
            <a:ext cx="2605738" cy="146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3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LabOS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非线性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Hall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×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BVPE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</a:t>
            </a:r>
            <a:r>
              <a:rPr sz="825" b="0">
                <a:solidFill>
                  <a:srgbClr val="62758C"/>
                </a:solidFill>
                <a:latin typeface="Arial"/>
                <a:ea typeface="Microsoft YaHei"/>
              </a:rPr>
              <a:t>|</a:t>
            </a:r>
            <a:r>
              <a:rPr sz="825" b="0">
                <a:solidFill>
                  <a:srgbClr val="62758C"/>
                </a:solidFill>
                <a:latin typeface="Microsoft YaHei"/>
                <a:ea typeface="Microsoft YaHei"/>
              </a:rPr>
              <a:t>  系统能力与应用场景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48256" y="6600825"/>
            <a:ext cx="405593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58C"/>
                </a:solidFill>
                <a:latin typeface="Arial"/>
                <a:ea typeface="Microsoft YaHei"/>
              </a:rPr>
              <a:t>19/19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LabOS：跨 PC 协同的非线性 Hall 与 BVPE 实验系统</dc:title>
  <dc:subject>系统能力、双 PC 装置与测量流程</dc:subject>
  <dc:creator>LabOS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