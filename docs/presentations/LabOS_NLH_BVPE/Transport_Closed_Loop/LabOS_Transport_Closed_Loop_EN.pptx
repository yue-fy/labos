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050000" cy="127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transport workflow design, complementing the general LabOS architecture. The left column separates the server-to-worker HTTP(S) link, local driver APIs and physical instrument interfaces. A master lock-in supplies sine excitation through a series resistor and reads Vxx at the fundamental; a follower reads Vxy at a selected harmonic using a physical reference. Dedicated calibration stages reuse the configured readout paths; no extra simultaneous measurement channel or automatic rewiring is assumed. Autonomous calibration adjusts bounded software settings, repeats references and issues a versioned calibration record. Raw X/Y and reference phase are retained, rather than auto-phasing an unknown second-harmonic signal to zero. The central loop qualifies each completed point or chunk, proposes a revision and validates a new stage version before dispatch. Recoverable quality problems can return to calibration; faults or uncertain commands require pause and reconciliation. The server-local theory/compute coupling is explicitly planned. It receives versioned qualified-data snapshots, compares transport, thermal and circuit hypotheses and ranks informative candidate measurements within the operating envelope. This is not a claim of deployed transport autonomy or measured material results.</a:t>
            </a:r>
          </a:p>
          <a:p>
            <a:r>
              <a:t>Reference: Original LabOS workflow design; supporting primary sources are linked in the bilingual companion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050000" cy="12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22250"/>
            <a:ext cx="9899650" cy="417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37"/>
              </a:lnSpc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11233E"/>
                </a:solidFill>
                <a:latin typeface="Arial"/>
                <a:ea typeface="Microsoft YaHei"/>
              </a:rPr>
              <a:t>LabOS</a:t>
            </a:r>
            <a:r>
              <a:rPr sz="2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2350" b="1">
                <a:solidFill>
                  <a:srgbClr val="11233E"/>
                </a:solidFill>
                <a:latin typeface="Arial"/>
                <a:ea typeface="Microsoft YaHei"/>
              </a:rPr>
              <a:t>|</a:t>
            </a:r>
            <a:r>
              <a:rPr sz="2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2350" b="1">
                <a:solidFill>
                  <a:srgbClr val="11233E"/>
                </a:solidFill>
                <a:latin typeface="Arial"/>
                <a:ea typeface="Microsoft YaHei"/>
              </a:rPr>
              <a:t>A</a:t>
            </a:r>
            <a:r>
              <a:rPr sz="2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2350" b="1">
                <a:solidFill>
                  <a:srgbClr val="11233E"/>
                </a:solidFill>
                <a:latin typeface="Arial"/>
                <a:ea typeface="Microsoft YaHei"/>
              </a:rPr>
              <a:t>Transport</a:t>
            </a:r>
            <a:r>
              <a:rPr sz="2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2350" b="1">
                <a:solidFill>
                  <a:srgbClr val="11233E"/>
                </a:solidFill>
                <a:latin typeface="Arial"/>
                <a:ea typeface="Microsoft YaHei"/>
              </a:rPr>
              <a:t>Experiment</a:t>
            </a:r>
            <a:r>
              <a:rPr sz="2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2350" b="1">
                <a:solidFill>
                  <a:srgbClr val="11233E"/>
                </a:solidFill>
                <a:latin typeface="Arial"/>
                <a:ea typeface="Microsoft YaHei"/>
              </a:rPr>
              <a:t>That</a:t>
            </a:r>
            <a:r>
              <a:rPr sz="2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2350" b="1">
                <a:solidFill>
                  <a:srgbClr val="11233E"/>
                </a:solidFill>
                <a:latin typeface="Arial"/>
                <a:ea typeface="Microsoft YaHei"/>
              </a:rPr>
              <a:t>Calibrates</a:t>
            </a:r>
            <a:r>
              <a:rPr sz="2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2350" b="1">
                <a:solidFill>
                  <a:srgbClr val="11233E"/>
                </a:solidFill>
                <a:latin typeface="Arial"/>
                <a:ea typeface="Microsoft YaHei"/>
              </a:rPr>
              <a:t>and</a:t>
            </a:r>
            <a:r>
              <a:rPr sz="2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2350" b="1">
                <a:solidFill>
                  <a:srgbClr val="11233E"/>
                </a:solidFill>
                <a:latin typeface="Arial"/>
                <a:ea typeface="Microsoft YaHei"/>
              </a:rPr>
              <a:t>Learns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50" y="774700"/>
            <a:ext cx="8614342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Device</a:t>
            </a:r>
            <a:r>
              <a:rPr sz="13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communication</a:t>
            </a:r>
            <a:r>
              <a:rPr sz="13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3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autonomous</a:t>
            </a:r>
            <a:r>
              <a:rPr sz="13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calibration</a:t>
            </a:r>
            <a:r>
              <a:rPr sz="13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3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live</a:t>
            </a:r>
            <a:r>
              <a:rPr sz="13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feedback</a:t>
            </a:r>
            <a:r>
              <a:rPr sz="13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→</a:t>
            </a:r>
            <a:r>
              <a:rPr sz="13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physics-guided</a:t>
            </a:r>
            <a:r>
              <a:rPr sz="13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next</a:t>
            </a:r>
            <a:r>
              <a:rPr sz="13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350" b="0">
                <a:solidFill>
                  <a:srgbClr val="62758C"/>
                </a:solidFill>
                <a:latin typeface="Arial"/>
                <a:ea typeface="Microsoft YaHei"/>
              </a:rPr>
              <a:t>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422400"/>
            <a:ext cx="2767378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A</a:t>
            </a:r>
            <a:r>
              <a:rPr sz="1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/</a:t>
            </a:r>
            <a:r>
              <a:rPr sz="1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DEVICE</a:t>
            </a:r>
            <a:r>
              <a:rPr sz="1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3500" y="1422400"/>
            <a:ext cx="3338236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B</a:t>
            </a:r>
            <a:r>
              <a:rPr sz="1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/</a:t>
            </a:r>
            <a:r>
              <a:rPr sz="1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MEASUREMENT</a:t>
            </a:r>
            <a:r>
              <a:rPr sz="1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AND</a:t>
            </a:r>
            <a:r>
              <a:rPr sz="1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62000" y="1422400"/>
            <a:ext cx="3274947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C</a:t>
            </a:r>
            <a:r>
              <a:rPr sz="1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/</a:t>
            </a:r>
            <a:r>
              <a:rPr sz="1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SCIENTIFIC</a:t>
            </a:r>
            <a:r>
              <a:rPr sz="1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NEXT-STEP</a:t>
            </a:r>
            <a:r>
              <a:rPr sz="1350" b="1">
                <a:solidFill>
                  <a:srgbClr val="11233E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1233E"/>
                </a:solidFill>
                <a:latin typeface="Arial"/>
                <a:ea typeface="Microsoft YaHei"/>
              </a:rPr>
              <a:t>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1905000"/>
            <a:ext cx="5207000" cy="8636000"/>
          </a:xfrm>
          <a:prstGeom prst="roundRect">
            <a:avLst>
              <a:gd name="adj" fmla="val 1829"/>
            </a:avLst>
          </a:prstGeom>
          <a:solidFill>
            <a:srgbClr val="F5F8FC"/>
          </a:solidFill>
          <a:ln w="11430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700" y="2019300"/>
            <a:ext cx="3480683" cy="257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3B6CB0"/>
                </a:solidFill>
                <a:latin typeface="Arial"/>
                <a:ea typeface="Microsoft YaHei"/>
              </a:rPr>
              <a:t>Commands</a:t>
            </a:r>
            <a:r>
              <a:rPr sz="14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3B6CB0"/>
                </a:solidFill>
                <a:latin typeface="Arial"/>
                <a:ea typeface="Microsoft YaHei"/>
              </a:rPr>
              <a:t>down</a:t>
            </a:r>
            <a:r>
              <a:rPr sz="14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3B6CB0"/>
                </a:solidFill>
                <a:latin typeface="Arial"/>
                <a:ea typeface="Microsoft YaHei"/>
              </a:rPr>
              <a:t>•</a:t>
            </a:r>
            <a:r>
              <a:rPr sz="14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3B6CB0"/>
                </a:solidFill>
                <a:latin typeface="Arial"/>
                <a:ea typeface="Microsoft YaHei"/>
              </a:rPr>
              <a:t>evidence</a:t>
            </a:r>
            <a:r>
              <a:rPr sz="14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3B6CB0"/>
                </a:solidFill>
                <a:latin typeface="Arial"/>
                <a:ea typeface="Microsoft YaHei"/>
              </a:rPr>
              <a:t>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81250"/>
            <a:ext cx="4762500" cy="730250"/>
          </a:xfrm>
          <a:prstGeom prst="roundRect">
            <a:avLst>
              <a:gd name="adj" fmla="val 10434"/>
            </a:avLst>
          </a:prstGeom>
          <a:solidFill>
            <a:srgbClr val="F1ECFC"/>
          </a:solidFill>
          <a:ln w="10795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" y="2482850"/>
            <a:ext cx="3219139" cy="231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653CF"/>
                </a:solidFill>
                <a:latin typeface="Arial"/>
                <a:ea typeface="Microsoft YaHei"/>
              </a:rPr>
              <a:t>Central</a:t>
            </a:r>
            <a:r>
              <a:rPr sz="130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300" b="1">
                <a:solidFill>
                  <a:srgbClr val="7653CF"/>
                </a:solidFill>
                <a:latin typeface="Arial"/>
                <a:ea typeface="Microsoft YaHei"/>
              </a:rPr>
              <a:t>tools</a:t>
            </a:r>
            <a:r>
              <a:rPr sz="130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300" b="1">
                <a:solidFill>
                  <a:srgbClr val="7653CF"/>
                </a:solidFill>
                <a:latin typeface="Arial"/>
                <a:ea typeface="Microsoft YaHei"/>
              </a:rPr>
              <a:t>→</a:t>
            </a:r>
            <a:r>
              <a:rPr sz="130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300" b="1">
                <a:solidFill>
                  <a:srgbClr val="7653CF"/>
                </a:solidFill>
                <a:latin typeface="Arial"/>
                <a:ea typeface="Microsoft YaHei"/>
              </a:rPr>
              <a:t>bounded</a:t>
            </a:r>
            <a:r>
              <a:rPr sz="130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300" b="1">
                <a:solidFill>
                  <a:srgbClr val="7653CF"/>
                </a:solidFill>
                <a:latin typeface="Arial"/>
                <a:ea typeface="Microsoft YaHei"/>
              </a:rPr>
              <a:t>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2800350"/>
            <a:ext cx="3007549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command_id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stage_id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device_id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deadline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492500"/>
            <a:ext cx="4762500" cy="52070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795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200" y="3594100"/>
            <a:ext cx="2018540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7653CF"/>
                </a:solidFill>
                <a:latin typeface="Arial"/>
                <a:ea typeface="Microsoft YaHei"/>
              </a:rPr>
              <a:t>PC-initiated</a:t>
            </a:r>
            <a:r>
              <a:rPr sz="13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7653CF"/>
                </a:solidFill>
                <a:latin typeface="Arial"/>
                <a:ea typeface="Microsoft YaHei"/>
              </a:rPr>
              <a:t>HTTP(S)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94000" y="3111500"/>
            <a:ext cx="0" cy="381000"/>
          </a:xfrm>
          <a:prstGeom prst="line">
            <a:avLst/>
          </a:prstGeom>
          <a:ln w="1524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2768600" y="3429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5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794000" y="4013200"/>
            <a:ext cx="0" cy="590550"/>
          </a:xfrm>
          <a:prstGeom prst="line">
            <a:avLst/>
          </a:prstGeom>
          <a:ln w="1524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768600" y="4546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200" y="4127500"/>
            <a:ext cx="1124501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53CF"/>
                </a:solidFill>
                <a:latin typeface="Arial"/>
                <a:ea typeface="Microsoft YaHei"/>
              </a:rPr>
              <a:t>Poll</a:t>
            </a:r>
            <a:r>
              <a:rPr sz="1050" b="0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7653CF"/>
                </a:solidFill>
                <a:latin typeface="Arial"/>
                <a:ea typeface="Microsoft YaHei"/>
              </a:rPr>
              <a:t>+</a:t>
            </a:r>
            <a:r>
              <a:rPr sz="1050" b="0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7653CF"/>
                </a:solidFill>
                <a:latin typeface="Arial"/>
                <a:ea typeface="Microsoft YaHei"/>
              </a:rPr>
              <a:t>heartbeat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94187"/>
            <a:ext cx="1549945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653CF"/>
                </a:solidFill>
                <a:latin typeface="Arial"/>
                <a:ea typeface="Microsoft YaHei"/>
              </a:rPr>
              <a:t>Results</a:t>
            </a:r>
            <a:r>
              <a:rPr sz="1050" b="0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7653CF"/>
                </a:solidFill>
                <a:latin typeface="Arial"/>
                <a:ea typeface="Microsoft YaHei"/>
              </a:rPr>
              <a:t>+</a:t>
            </a:r>
            <a:r>
              <a:rPr sz="1050" b="0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7653CF"/>
                </a:solidFill>
                <a:latin typeface="Arial"/>
                <a:ea typeface="Microsoft YaHei"/>
              </a:rPr>
              <a:t>raw</a:t>
            </a:r>
            <a:r>
              <a:rPr sz="1050" b="0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7653CF"/>
                </a:solidFill>
                <a:latin typeface="Arial"/>
                <a:ea typeface="Microsoft YaHei"/>
              </a:rPr>
              <a:t>artifacts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4603750"/>
            <a:ext cx="4762500" cy="1016000"/>
          </a:xfrm>
          <a:prstGeom prst="roundRect">
            <a:avLst>
              <a:gd name="adj" fmla="val 6875"/>
            </a:avLst>
          </a:prstGeom>
          <a:solidFill>
            <a:srgbClr val="E9F6F7"/>
          </a:solidFill>
          <a:ln w="10795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1200" y="4730750"/>
            <a:ext cx="412750" cy="285750"/>
          </a:xfrm>
          <a:prstGeom prst="roundRect">
            <a:avLst>
              <a:gd name="adj" fmla="val 8888"/>
            </a:avLst>
          </a:prstGeom>
          <a:solidFill>
            <a:srgbClr val="EDF3FC"/>
          </a:solidFill>
          <a:ln w="12700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5650" y="4775200"/>
            <a:ext cx="323850" cy="196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17575" y="5016500"/>
            <a:ext cx="0" cy="63500"/>
          </a:xfrm>
          <a:prstGeom prst="line">
            <a:avLst/>
          </a:prstGeom>
          <a:ln w="12700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7877" y="5092700"/>
            <a:ext cx="239395" cy="0"/>
          </a:xfrm>
          <a:prstGeom prst="line">
            <a:avLst/>
          </a:prstGeom>
          <a:ln w="19050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70000" y="4724400"/>
            <a:ext cx="2916274" cy="257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i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…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N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local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PC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550" y="5099050"/>
            <a:ext cx="3435250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Device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sessions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command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journal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watchdog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550" y="5273675"/>
            <a:ext cx="3404486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Readbacks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flags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timestamps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local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raw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cache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34000" y="5181600"/>
            <a:ext cx="114300" cy="0"/>
          </a:xfrm>
          <a:prstGeom prst="line">
            <a:avLst/>
          </a:prstGeom>
          <a:ln w="13335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448300" y="2749550"/>
            <a:ext cx="0" cy="2432050"/>
          </a:xfrm>
          <a:prstGeom prst="line">
            <a:avLst/>
          </a:prstGeom>
          <a:ln w="13335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334000" y="2749550"/>
            <a:ext cx="114300" cy="0"/>
          </a:xfrm>
          <a:prstGeom prst="line">
            <a:avLst/>
          </a:prstGeom>
          <a:ln w="13335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5334000" y="273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1"/>
                </a:moveTo>
                <a:lnTo>
                  <a:pt x="4" y="3"/>
                </a:lnTo>
                <a:lnTo>
                  <a:pt x="4" y="0"/>
                </a:lnTo>
                <a:close/>
              </a:path>
            </a:pathLst>
          </a:cu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794000" y="5619750"/>
            <a:ext cx="0" cy="444500"/>
          </a:xfrm>
          <a:prstGeom prst="line">
            <a:avLst/>
          </a:prstGeom>
          <a:ln w="13970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2768600" y="6019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1500" y="6064250"/>
            <a:ext cx="4762500" cy="7112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795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1200" y="6165850"/>
            <a:ext cx="3593820" cy="240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8D9D"/>
                </a:solidFill>
                <a:latin typeface="Arial"/>
                <a:ea typeface="Microsoft YaHei"/>
              </a:rPr>
              <a:t>Driver</a:t>
            </a: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68D9D"/>
                </a:solidFill>
                <a:latin typeface="Arial"/>
                <a:ea typeface="Microsoft YaHei"/>
              </a:rPr>
              <a:t>adapters</a:t>
            </a: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68D9D"/>
                </a:solidFill>
                <a:latin typeface="Arial"/>
                <a:ea typeface="Microsoft YaHei"/>
              </a:rPr>
              <a:t>reviewed</a:t>
            </a: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68D9D"/>
                </a:solidFill>
                <a:latin typeface="Arial"/>
                <a:ea typeface="Microsoft YaHei"/>
              </a:rPr>
              <a:t>local</a:t>
            </a:r>
            <a:r>
              <a:rPr sz="13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350" b="1">
                <a:solidFill>
                  <a:srgbClr val="168D9D"/>
                </a:solidFill>
                <a:latin typeface="Arial"/>
                <a:ea typeface="Microsoft YaHei"/>
              </a:rPr>
              <a:t>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200" y="6483350"/>
            <a:ext cx="3258604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VISA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I/O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or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vendor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SDK;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SCPI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only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where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supported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635250" y="6775450"/>
            <a:ext cx="0" cy="527050"/>
          </a:xfrm>
          <a:prstGeom prst="line">
            <a:avLst/>
          </a:prstGeom>
          <a:ln w="14604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2603500" y="72390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5"/>
                </a:move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2825750" y="6775450"/>
            <a:ext cx="0" cy="527050"/>
          </a:xfrm>
          <a:prstGeom prst="line">
            <a:avLst/>
          </a:prstGeom>
          <a:ln w="14604">
            <a:solidFill>
              <a:srgbClr val="3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94000" y="6781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2" y="0"/>
                </a:moveTo>
                <a:lnTo>
                  <a:pt x="0" y="4"/>
                </a:lnTo>
                <a:lnTo>
                  <a:pt x="5" y="4"/>
                </a:lnTo>
                <a:close/>
              </a:path>
            </a:pathLst>
          </a:custGeom>
          <a:solidFill>
            <a:srgbClr val="3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84500" y="6921500"/>
            <a:ext cx="1768267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B6CB0"/>
                </a:solidFill>
                <a:latin typeface="Arial"/>
                <a:ea typeface="Microsoft YaHei"/>
              </a:rPr>
              <a:t>GPIB</a:t>
            </a:r>
            <a:r>
              <a:rPr sz="1050" b="0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3B6CB0"/>
                </a:solidFill>
                <a:latin typeface="Arial"/>
                <a:ea typeface="Microsoft YaHei"/>
              </a:rPr>
              <a:t>/</a:t>
            </a:r>
            <a:r>
              <a:rPr sz="1050" b="0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3B6CB0"/>
                </a:solidFill>
                <a:latin typeface="Arial"/>
                <a:ea typeface="Microsoft YaHei"/>
              </a:rPr>
              <a:t>USB</a:t>
            </a:r>
            <a:r>
              <a:rPr sz="1050" b="0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3B6CB0"/>
                </a:solidFill>
                <a:latin typeface="Arial"/>
                <a:ea typeface="Microsoft YaHei"/>
              </a:rPr>
              <a:t>/</a:t>
            </a:r>
            <a:r>
              <a:rPr sz="1050" b="0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3B6CB0"/>
                </a:solidFill>
                <a:latin typeface="Arial"/>
                <a:ea typeface="Microsoft YaHei"/>
              </a:rPr>
              <a:t>serial</a:t>
            </a:r>
            <a:r>
              <a:rPr sz="1050" b="0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3B6CB0"/>
                </a:solidFill>
                <a:latin typeface="Arial"/>
                <a:ea typeface="Microsoft YaHei"/>
              </a:rPr>
              <a:t>/</a:t>
            </a:r>
            <a:r>
              <a:rPr sz="1050" b="0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3B6CB0"/>
                </a:solidFill>
                <a:latin typeface="Arial"/>
                <a:ea typeface="Microsoft YaHei"/>
              </a:rPr>
              <a:t>TCP-IP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1500" y="7302500"/>
            <a:ext cx="4762500" cy="304800"/>
          </a:xfrm>
          <a:prstGeom prst="roundRect">
            <a:avLst>
              <a:gd name="adj" fmla="val 10416"/>
            </a:avLst>
          </a:prstGeom>
          <a:solidFill>
            <a:srgbClr val="EDF3FC"/>
          </a:solidFill>
          <a:ln w="7620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5000" y="7353300"/>
            <a:ext cx="4273550" cy="203200"/>
          </a:xfrm>
          <a:prstGeom prst="roundRect">
            <a:avLst>
              <a:gd name="adj" fmla="val 9375"/>
            </a:avLst>
          </a:prstGeom>
          <a:solidFill>
            <a:srgbClr val="11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8500" y="7378700"/>
            <a:ext cx="2629898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Lock-in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master: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sine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OUT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+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Vxx(1f)</a:t>
            </a:r>
          </a:p>
        </p:txBody>
      </p:sp>
      <p:sp>
        <p:nvSpPr>
          <p:cNvPr id="46" name="Oval 45"/>
          <p:cNvSpPr/>
          <p:nvPr/>
        </p:nvSpPr>
        <p:spPr>
          <a:xfrm>
            <a:off x="5060950" y="7391400"/>
            <a:ext cx="127000" cy="1270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232400" y="7512050"/>
            <a:ext cx="38100" cy="38100"/>
          </a:xfrm>
          <a:prstGeom prst="ellipse">
            <a:avLst/>
          </a:pr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1500" y="7677150"/>
            <a:ext cx="4762500" cy="304800"/>
          </a:xfrm>
          <a:prstGeom prst="roundRect">
            <a:avLst>
              <a:gd name="adj" fmla="val 10416"/>
            </a:avLst>
          </a:prstGeom>
          <a:solidFill>
            <a:srgbClr val="EDF3FC"/>
          </a:solidFill>
          <a:ln w="7620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5000" y="7727950"/>
            <a:ext cx="4273550" cy="203200"/>
          </a:xfrm>
          <a:prstGeom prst="roundRect">
            <a:avLst>
              <a:gd name="adj" fmla="val 9375"/>
            </a:avLst>
          </a:prstGeom>
          <a:solidFill>
            <a:srgbClr val="11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8500" y="7753350"/>
            <a:ext cx="2544666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Lock-in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follower: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selected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Vxy(2f)</a:t>
            </a:r>
          </a:p>
        </p:txBody>
      </p:sp>
      <p:sp>
        <p:nvSpPr>
          <p:cNvPr id="51" name="Oval 50"/>
          <p:cNvSpPr/>
          <p:nvPr/>
        </p:nvSpPr>
        <p:spPr>
          <a:xfrm>
            <a:off x="5060950" y="7766050"/>
            <a:ext cx="127000" cy="1270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232400" y="7886700"/>
            <a:ext cx="38100" cy="38100"/>
          </a:xfrm>
          <a:prstGeom prst="ellipse">
            <a:avLst/>
          </a:pr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71500" y="8051800"/>
            <a:ext cx="4762500" cy="304800"/>
          </a:xfrm>
          <a:prstGeom prst="roundRect">
            <a:avLst>
              <a:gd name="adj" fmla="val 10416"/>
            </a:avLst>
          </a:prstGeom>
          <a:solidFill>
            <a:srgbClr val="EDF3FC"/>
          </a:solidFill>
          <a:ln w="7620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35000" y="8102600"/>
            <a:ext cx="4273550" cy="203200"/>
          </a:xfrm>
          <a:prstGeom prst="roundRect">
            <a:avLst>
              <a:gd name="adj" fmla="val 9375"/>
            </a:avLst>
          </a:prstGeom>
          <a:solidFill>
            <a:srgbClr val="11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8500" y="8128000"/>
            <a:ext cx="2318661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attoDRY: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T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/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B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  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|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  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2400: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Vg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/</a:t>
            </a: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FFFFFF"/>
                </a:solidFill>
                <a:latin typeface="Arial"/>
                <a:ea typeface="Microsoft YaHei"/>
              </a:rPr>
              <a:t>Ig</a:t>
            </a:r>
          </a:p>
        </p:txBody>
      </p:sp>
      <p:sp>
        <p:nvSpPr>
          <p:cNvPr id="56" name="Oval 55"/>
          <p:cNvSpPr/>
          <p:nvPr/>
        </p:nvSpPr>
        <p:spPr>
          <a:xfrm>
            <a:off x="5060950" y="8140700"/>
            <a:ext cx="127000" cy="1270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232400" y="8261350"/>
            <a:ext cx="38100" cy="38100"/>
          </a:xfrm>
          <a:prstGeom prst="ellipse">
            <a:avLst/>
          </a:pr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4200" y="8667750"/>
            <a:ext cx="3388512" cy="231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B6CB0"/>
                </a:solidFill>
                <a:latin typeface="Arial"/>
                <a:ea typeface="Microsoft YaHei"/>
              </a:rPr>
              <a:t>Physical</a:t>
            </a:r>
            <a:r>
              <a:rPr sz="130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300" b="1">
                <a:solidFill>
                  <a:srgbClr val="3B6CB0"/>
                </a:solidFill>
                <a:latin typeface="Arial"/>
                <a:ea typeface="Microsoft YaHei"/>
              </a:rPr>
              <a:t>signal</a:t>
            </a:r>
            <a:r>
              <a:rPr sz="130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300" b="1">
                <a:solidFill>
                  <a:srgbClr val="3B6CB0"/>
                </a:solidFill>
                <a:latin typeface="Arial"/>
                <a:ea typeface="Microsoft YaHei"/>
              </a:rPr>
              <a:t>and</a:t>
            </a:r>
            <a:r>
              <a:rPr sz="130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300" b="1">
                <a:solidFill>
                  <a:srgbClr val="3B6CB0"/>
                </a:solidFill>
                <a:latin typeface="Arial"/>
                <a:ea typeface="Microsoft YaHei"/>
              </a:rPr>
              <a:t>reference</a:t>
            </a:r>
            <a:r>
              <a:rPr sz="130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300" b="1">
                <a:solidFill>
                  <a:srgbClr val="3B6CB0"/>
                </a:solidFill>
                <a:latin typeface="Arial"/>
                <a:ea typeface="Microsoft YaHei"/>
              </a:rPr>
              <a:t>cables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5000" y="9080500"/>
            <a:ext cx="1003300" cy="381000"/>
          </a:xfrm>
          <a:prstGeom prst="roundRect">
            <a:avLst>
              <a:gd name="adj" fmla="val 11666"/>
            </a:avLst>
          </a:prstGeom>
          <a:solidFill>
            <a:srgbClr val="F1ECFC"/>
          </a:solidFill>
          <a:ln w="6350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7210" y="9188450"/>
            <a:ext cx="789678" cy="204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653CF"/>
                </a:solidFill>
                <a:latin typeface="Arial"/>
                <a:ea typeface="Microsoft YaHei"/>
              </a:rPr>
              <a:t>Sine</a:t>
            </a:r>
            <a:r>
              <a:rPr sz="11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150" b="1">
                <a:solidFill>
                  <a:srgbClr val="7653CF"/>
                </a:solidFill>
                <a:latin typeface="Arial"/>
                <a:ea typeface="Microsoft YaHei"/>
              </a:rPr>
              <a:t>OUT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638300" y="9271000"/>
            <a:ext cx="266700" cy="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905000" y="9271000"/>
            <a:ext cx="69850" cy="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974850" y="9220200"/>
            <a:ext cx="31750" cy="5080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006600" y="9220200"/>
            <a:ext cx="57150" cy="10160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063750" y="9220200"/>
            <a:ext cx="57150" cy="10160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120900" y="9220200"/>
            <a:ext cx="57150" cy="10160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178050" y="9220200"/>
            <a:ext cx="57150" cy="10160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235200" y="9220200"/>
            <a:ext cx="57150" cy="10160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92350" y="9220200"/>
            <a:ext cx="57150" cy="10160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349500" y="9220200"/>
            <a:ext cx="57150" cy="10160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406650" y="9271000"/>
            <a:ext cx="76200" cy="5080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482850" y="9271000"/>
            <a:ext cx="88900" cy="0"/>
          </a:xfrm>
          <a:prstGeom prst="line">
            <a:avLst/>
          </a:prstGeom>
          <a:ln w="1270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162063" y="8997950"/>
            <a:ext cx="241523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653CF"/>
                </a:solidFill>
                <a:latin typeface="Arial"/>
                <a:ea typeface="Microsoft YaHei"/>
              </a:rPr>
              <a:t>Rs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571750" y="9271000"/>
            <a:ext cx="355600" cy="0"/>
          </a:xfrm>
          <a:prstGeom prst="line">
            <a:avLst/>
          </a:prstGeom>
          <a:ln w="13335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2870200" y="9245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927350" y="9080500"/>
            <a:ext cx="1492250" cy="381000"/>
          </a:xfrm>
          <a:prstGeom prst="roundRect">
            <a:avLst>
              <a:gd name="adj" fmla="val 11666"/>
            </a:avLst>
          </a:prstGeom>
          <a:solidFill>
            <a:srgbClr val="EDF3FC"/>
          </a:solidFill>
          <a:ln w="6350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08833" y="9182100"/>
            <a:ext cx="1380083" cy="204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B6CB0"/>
                </a:solidFill>
                <a:latin typeface="Arial"/>
                <a:ea typeface="Microsoft YaHei"/>
              </a:rPr>
              <a:t>Sample</a:t>
            </a:r>
            <a:r>
              <a:rPr sz="11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150" b="1">
                <a:solidFill>
                  <a:srgbClr val="3B6CB0"/>
                </a:solidFill>
                <a:latin typeface="Arial"/>
                <a:ea typeface="Microsoft YaHei"/>
              </a:rPr>
              <a:t>+</a:t>
            </a:r>
            <a:r>
              <a:rPr sz="11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150" b="1">
                <a:solidFill>
                  <a:srgbClr val="3B6CB0"/>
                </a:solidFill>
                <a:latin typeface="Arial"/>
                <a:ea typeface="Microsoft YaHei"/>
              </a:rPr>
              <a:t>return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00100" y="9842500"/>
            <a:ext cx="4210050" cy="0"/>
          </a:xfrm>
          <a:prstGeom prst="line">
            <a:avLst/>
          </a:prstGeom>
          <a:ln w="15240">
            <a:solidFill>
              <a:srgbClr val="BC7D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4953000" y="9817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9569450"/>
            <a:ext cx="3316628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C7D1D"/>
                </a:solidFill>
                <a:latin typeface="Arial"/>
                <a:ea typeface="Microsoft YaHei"/>
              </a:rPr>
              <a:t>Master</a:t>
            </a:r>
            <a:r>
              <a:rPr sz="11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1">
                <a:solidFill>
                  <a:srgbClr val="BC7D1D"/>
                </a:solidFill>
                <a:latin typeface="Arial"/>
                <a:ea typeface="Microsoft YaHei"/>
              </a:rPr>
              <a:t>f_I</a:t>
            </a:r>
            <a:r>
              <a:rPr sz="11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1">
                <a:solidFill>
                  <a:srgbClr val="BC7D1D"/>
                </a:solidFill>
                <a:latin typeface="Arial"/>
                <a:ea typeface="Microsoft YaHei"/>
              </a:rPr>
              <a:t>→</a:t>
            </a:r>
            <a:r>
              <a:rPr sz="11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1">
                <a:solidFill>
                  <a:srgbClr val="BC7D1D"/>
                </a:solidFill>
                <a:latin typeface="Arial"/>
                <a:ea typeface="Microsoft YaHei"/>
              </a:rPr>
              <a:t>follower</a:t>
            </a:r>
            <a:r>
              <a:rPr sz="11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1">
                <a:solidFill>
                  <a:srgbClr val="BC7D1D"/>
                </a:solidFill>
                <a:latin typeface="Arial"/>
                <a:ea typeface="Microsoft YaHei"/>
              </a:rPr>
              <a:t>REF;</a:t>
            </a:r>
            <a:r>
              <a:rPr sz="11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1">
                <a:solidFill>
                  <a:srgbClr val="BC7D1D"/>
                </a:solidFill>
                <a:latin typeface="Arial"/>
                <a:ea typeface="Microsoft YaHei"/>
              </a:rPr>
              <a:t>select</a:t>
            </a:r>
            <a:r>
              <a:rPr sz="11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1">
                <a:solidFill>
                  <a:srgbClr val="BC7D1D"/>
                </a:solidFill>
                <a:latin typeface="Arial"/>
                <a:ea typeface="Microsoft YaHei"/>
              </a:rPr>
              <a:t>harmonic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10033000"/>
            <a:ext cx="3050068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Network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timing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and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physical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phase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reference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10199687"/>
            <a:ext cx="2533597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are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separate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parts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of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the</a:t>
            </a:r>
            <a:r>
              <a:rPr sz="10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62758C"/>
                </a:solidFill>
                <a:latin typeface="Arial"/>
                <a:ea typeface="Microsoft YaHei"/>
              </a:rPr>
              <a:t>experiment.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13500" y="1905000"/>
            <a:ext cx="6223000" cy="825500"/>
          </a:xfrm>
          <a:prstGeom prst="roundRect">
            <a:avLst>
              <a:gd name="adj" fmla="val 9230"/>
            </a:avLst>
          </a:prstGeom>
          <a:solidFill>
            <a:srgbClr val="F1ECFC"/>
          </a:solidFill>
          <a:ln w="10795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53200" y="2006600"/>
            <a:ext cx="3429341" cy="257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7653CF"/>
                </a:solidFill>
                <a:latin typeface="Arial"/>
                <a:ea typeface="Microsoft YaHei"/>
              </a:rPr>
              <a:t>1</a:t>
            </a:r>
            <a:r>
              <a:rPr sz="1450" b="1">
                <a:solidFill>
                  <a:srgbClr val="7653CF"/>
                </a:solidFill>
                <a:latin typeface="Microsoft YaHei"/>
                <a:ea typeface="Microsoft YaHei"/>
              </a:rPr>
              <a:t>  </a:t>
            </a:r>
            <a:r>
              <a:rPr sz="1450" b="1">
                <a:solidFill>
                  <a:srgbClr val="7653CF"/>
                </a:solidFill>
                <a:latin typeface="Arial"/>
                <a:ea typeface="Microsoft YaHei"/>
              </a:rPr>
              <a:t>Define</a:t>
            </a:r>
            <a:r>
              <a:rPr sz="14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7653CF"/>
                </a:solidFill>
                <a:latin typeface="Arial"/>
                <a:ea typeface="Microsoft YaHei"/>
              </a:rPr>
              <a:t>the</a:t>
            </a:r>
            <a:r>
              <a:rPr sz="14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7653CF"/>
                </a:solidFill>
                <a:latin typeface="Arial"/>
                <a:ea typeface="Microsoft YaHei"/>
              </a:rPr>
              <a:t>transport</a:t>
            </a:r>
            <a:r>
              <a:rPr sz="14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7653CF"/>
                </a:solidFill>
                <a:latin typeface="Arial"/>
                <a:ea typeface="Microsoft YaHei"/>
              </a:rPr>
              <a:t>campaign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53200" y="2324100"/>
            <a:ext cx="4116833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Sample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wiring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T,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B,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Vg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current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and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frequency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envelope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13500" y="3175000"/>
            <a:ext cx="6223000" cy="1143000"/>
          </a:xfrm>
          <a:prstGeom prst="roundRect">
            <a:avLst>
              <a:gd name="adj" fmla="val 6666"/>
            </a:avLst>
          </a:prstGeom>
          <a:solidFill>
            <a:srgbClr val="FFF4DE"/>
          </a:solidFill>
          <a:ln w="10795">
            <a:solidFill>
              <a:srgbClr val="BC7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53200" y="3276600"/>
            <a:ext cx="2836583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C7D1D"/>
                </a:solidFill>
                <a:latin typeface="Arial"/>
                <a:ea typeface="Microsoft YaHei"/>
              </a:rPr>
              <a:t>2</a:t>
            </a:r>
            <a:r>
              <a:rPr sz="1500" b="1">
                <a:solidFill>
                  <a:srgbClr val="BC7D1D"/>
                </a:solidFill>
                <a:latin typeface="Microsoft YaHei"/>
                <a:ea typeface="Microsoft YaHei"/>
              </a:rPr>
              <a:t>  </a:t>
            </a:r>
            <a:r>
              <a:rPr sz="1500" b="1">
                <a:solidFill>
                  <a:srgbClr val="BC7D1D"/>
                </a:solidFill>
                <a:latin typeface="Arial"/>
                <a:ea typeface="Microsoft YaHei"/>
              </a:rPr>
              <a:t>Autonomous</a:t>
            </a:r>
            <a:r>
              <a:rPr sz="15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500" b="1">
                <a:solidFill>
                  <a:srgbClr val="BC7D1D"/>
                </a:solidFill>
                <a:latin typeface="Arial"/>
                <a:ea typeface="Microsoft YaHei"/>
              </a:rPr>
              <a:t>calibration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53200" y="3594100"/>
            <a:ext cx="3118206" cy="204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Verify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actual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current,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reference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and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phase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53200" y="3776662"/>
            <a:ext cx="3502657" cy="204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Choose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range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filtering;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repeat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baseline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checks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53200" y="3959225"/>
            <a:ext cx="3786199" cy="204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Reuse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valid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calibration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or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issue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a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new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calibration_id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413500" y="4826000"/>
            <a:ext cx="6223000" cy="1079500"/>
          </a:xfrm>
          <a:prstGeom prst="roundRect">
            <a:avLst>
              <a:gd name="adj" fmla="val 7058"/>
            </a:avLst>
          </a:prstGeom>
          <a:solidFill>
            <a:srgbClr val="E9F6F7"/>
          </a:solidFill>
          <a:ln w="10795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53200" y="4927600"/>
            <a:ext cx="3615649" cy="257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3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Prepare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+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acquire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the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next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point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53200" y="5245100"/>
            <a:ext cx="3793064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Join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actual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T/B/Vg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readiness;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settle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after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setting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changes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53200" y="5411787"/>
            <a:ext cx="3327511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Recheck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calibration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validity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at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the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observed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state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53200" y="5578475"/>
            <a:ext cx="3631455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Save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Vxx(1f),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Vxy(2f),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X/Y,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readbacks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and</a:t>
            </a:r>
            <a:r>
              <a:rPr sz="10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50" b="0">
                <a:solidFill>
                  <a:srgbClr val="23364D"/>
                </a:solidFill>
                <a:latin typeface="Arial"/>
                <a:ea typeface="Microsoft YaHei"/>
              </a:rPr>
              <a:t>timestamps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413500" y="6286500"/>
            <a:ext cx="6223000" cy="95250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 w="10795">
            <a:solidFill>
              <a:srgbClr val="278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53200" y="6388100"/>
            <a:ext cx="2047766" cy="257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78565"/>
                </a:solidFill>
                <a:latin typeface="Arial"/>
                <a:ea typeface="Microsoft YaHei"/>
              </a:rPr>
              <a:t>4</a:t>
            </a:r>
            <a:r>
              <a:rPr sz="1450" b="1">
                <a:solidFill>
                  <a:srgbClr val="278565"/>
                </a:solidFill>
                <a:latin typeface="Microsoft YaHei"/>
                <a:ea typeface="Microsoft YaHei"/>
              </a:rPr>
              <a:t>  </a:t>
            </a:r>
            <a:r>
              <a:rPr sz="1450" b="1">
                <a:solidFill>
                  <a:srgbClr val="278565"/>
                </a:solidFill>
                <a:latin typeface="Arial"/>
                <a:ea typeface="Microsoft YaHei"/>
              </a:rPr>
              <a:t>Live</a:t>
            </a:r>
            <a:r>
              <a:rPr sz="145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278565"/>
                </a:solidFill>
                <a:latin typeface="Arial"/>
                <a:ea typeface="Microsoft YaHei"/>
              </a:rPr>
              <a:t>qualification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53200" y="6705600"/>
            <a:ext cx="3852664" cy="204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Reference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lock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overload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freshness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drift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leakage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53200" y="6888162"/>
            <a:ext cx="4049703" cy="204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Recoverable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QC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issue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→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recalibrate;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hard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fault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→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pause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13500" y="7810500"/>
            <a:ext cx="6223000" cy="952500"/>
          </a:xfrm>
          <a:prstGeom prst="roundRect">
            <a:avLst>
              <a:gd name="adj" fmla="val 8000"/>
            </a:avLst>
          </a:prstGeom>
          <a:solidFill>
            <a:srgbClr val="F1ECFC"/>
          </a:solidFill>
          <a:ln w="10795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553200" y="7912100"/>
            <a:ext cx="4115767" cy="257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7653CF"/>
                </a:solidFill>
                <a:latin typeface="Arial"/>
                <a:ea typeface="Microsoft YaHei"/>
              </a:rPr>
              <a:t>5</a:t>
            </a:r>
            <a:r>
              <a:rPr sz="1450" b="1">
                <a:solidFill>
                  <a:srgbClr val="7653CF"/>
                </a:solidFill>
                <a:latin typeface="Microsoft YaHei"/>
                <a:ea typeface="Microsoft YaHei"/>
              </a:rPr>
              <a:t>  </a:t>
            </a:r>
            <a:r>
              <a:rPr sz="1450" b="1">
                <a:solidFill>
                  <a:srgbClr val="7653CF"/>
                </a:solidFill>
                <a:latin typeface="Arial"/>
                <a:ea typeface="Microsoft YaHei"/>
              </a:rPr>
              <a:t>Central</a:t>
            </a:r>
            <a:r>
              <a:rPr sz="14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7653CF"/>
                </a:solidFill>
                <a:latin typeface="Arial"/>
                <a:ea typeface="Microsoft YaHei"/>
              </a:rPr>
              <a:t>feedback</a:t>
            </a:r>
            <a:r>
              <a:rPr sz="14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7653CF"/>
                </a:solidFill>
                <a:latin typeface="Arial"/>
                <a:ea typeface="Microsoft YaHei"/>
              </a:rPr>
              <a:t>+</a:t>
            </a:r>
            <a:r>
              <a:rPr sz="14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7653CF"/>
                </a:solidFill>
                <a:latin typeface="Arial"/>
                <a:ea typeface="Microsoft YaHei"/>
              </a:rPr>
              <a:t>scientific</a:t>
            </a:r>
            <a:r>
              <a:rPr sz="14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7653CF"/>
                </a:solidFill>
                <a:latin typeface="Arial"/>
                <a:ea typeface="Microsoft YaHei"/>
              </a:rPr>
              <a:t>analysis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53200" y="8229600"/>
            <a:ext cx="4366976" cy="204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Fit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amplitude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phase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drive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dependence;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compare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controls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53200" y="8412162"/>
            <a:ext cx="4050844" cy="204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Propose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a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repeat,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a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new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setting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or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a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discriminating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test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13500" y="9334500"/>
            <a:ext cx="6223000" cy="825500"/>
          </a:xfrm>
          <a:prstGeom prst="roundRect">
            <a:avLst>
              <a:gd name="adj" fmla="val 9230"/>
            </a:avLst>
          </a:prstGeom>
          <a:solidFill>
            <a:srgbClr val="E9F6F7"/>
          </a:solidFill>
          <a:ln w="10795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553200" y="9436100"/>
            <a:ext cx="4062266" cy="257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6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Validate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update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/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close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the</a:t>
            </a:r>
            <a:r>
              <a:rPr sz="14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168D9D"/>
                </a:solidFill>
                <a:latin typeface="Arial"/>
                <a:ea typeface="Microsoft YaHei"/>
              </a:rPr>
              <a:t>campaign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53200" y="9753600"/>
            <a:ext cx="3875341" cy="204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Limits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locks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versioned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update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recorded</a:t>
            </a:r>
            <a:r>
              <a:rPr sz="115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23364D"/>
                </a:solidFill>
                <a:latin typeface="Arial"/>
                <a:ea typeface="Microsoft YaHei"/>
              </a:rPr>
              <a:t>closure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9525000" y="2730500"/>
            <a:ext cx="0" cy="444500"/>
          </a:xfrm>
          <a:prstGeom prst="line">
            <a:avLst/>
          </a:prstGeom>
          <a:ln w="1778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Freeform 107"/>
          <p:cNvSpPr/>
          <p:nvPr/>
        </p:nvSpPr>
        <p:spPr>
          <a:xfrm>
            <a:off x="9499600" y="31115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5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9525000" y="4318000"/>
            <a:ext cx="0" cy="508000"/>
          </a:xfrm>
          <a:prstGeom prst="line">
            <a:avLst/>
          </a:prstGeom>
          <a:ln w="17780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9499600" y="47625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5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9525000" y="5905500"/>
            <a:ext cx="0" cy="381000"/>
          </a:xfrm>
          <a:prstGeom prst="line">
            <a:avLst/>
          </a:prstGeom>
          <a:ln w="17780">
            <a:solidFill>
              <a:srgbClr val="168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Freeform 111"/>
          <p:cNvSpPr/>
          <p:nvPr/>
        </p:nvSpPr>
        <p:spPr>
          <a:xfrm>
            <a:off x="9499600" y="6223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5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168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9525000" y="7239000"/>
            <a:ext cx="0" cy="571500"/>
          </a:xfrm>
          <a:prstGeom prst="line">
            <a:avLst/>
          </a:prstGeom>
          <a:ln w="17780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Freeform 113"/>
          <p:cNvSpPr/>
          <p:nvPr/>
        </p:nvSpPr>
        <p:spPr>
          <a:xfrm>
            <a:off x="9499600" y="7747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5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9525000" y="8763000"/>
            <a:ext cx="0" cy="571500"/>
          </a:xfrm>
          <a:prstGeom prst="line">
            <a:avLst/>
          </a:prstGeom>
          <a:ln w="17780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Freeform 115"/>
          <p:cNvSpPr/>
          <p:nvPr/>
        </p:nvSpPr>
        <p:spPr>
          <a:xfrm>
            <a:off x="9499600" y="9271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5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683750" y="7429500"/>
            <a:ext cx="1438408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78565"/>
                </a:solidFill>
                <a:latin typeface="Arial"/>
                <a:ea typeface="Microsoft YaHei"/>
              </a:rPr>
              <a:t>Qualified</a:t>
            </a:r>
            <a:r>
              <a:rPr sz="105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278565"/>
                </a:solidFill>
                <a:latin typeface="Arial"/>
                <a:ea typeface="Microsoft YaHei"/>
              </a:rPr>
              <a:t>evidence</a:t>
            </a:r>
          </a:p>
        </p:txBody>
      </p:sp>
      <p:cxnSp>
        <p:nvCxnSpPr>
          <p:cNvPr id="118" name="Connector 117"/>
          <p:cNvCxnSpPr/>
          <p:nvPr/>
        </p:nvCxnSpPr>
        <p:spPr>
          <a:xfrm flipH="1">
            <a:off x="5969000" y="9747250"/>
            <a:ext cx="444500" cy="0"/>
          </a:xfrm>
          <a:prstGeom prst="line">
            <a:avLst/>
          </a:prstGeom>
          <a:ln w="17145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5969000" y="3746500"/>
            <a:ext cx="0" cy="6000750"/>
          </a:xfrm>
          <a:prstGeom prst="line">
            <a:avLst/>
          </a:prstGeom>
          <a:ln w="17145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969000" y="3746500"/>
            <a:ext cx="444500" cy="0"/>
          </a:xfrm>
          <a:prstGeom prst="line">
            <a:avLst/>
          </a:prstGeom>
          <a:ln w="17145">
            <a:solidFill>
              <a:srgbClr val="765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6350000" y="3721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5" y="2"/>
                </a:move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12636500" y="6604000"/>
            <a:ext cx="317500" cy="0"/>
          </a:xfrm>
          <a:prstGeom prst="line">
            <a:avLst/>
          </a:prstGeom>
          <a:ln w="15875">
            <a:solidFill>
              <a:srgbClr val="BC7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2954000" y="3746500"/>
            <a:ext cx="0" cy="2857500"/>
          </a:xfrm>
          <a:prstGeom prst="line">
            <a:avLst/>
          </a:prstGeom>
          <a:ln w="15875">
            <a:solidFill>
              <a:srgbClr val="BC7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12636500" y="3746500"/>
            <a:ext cx="317500" cy="0"/>
          </a:xfrm>
          <a:prstGeom prst="line">
            <a:avLst/>
          </a:prstGeom>
          <a:ln w="15875">
            <a:solidFill>
              <a:srgbClr val="BC7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Freeform 124"/>
          <p:cNvSpPr/>
          <p:nvPr/>
        </p:nvSpPr>
        <p:spPr>
          <a:xfrm>
            <a:off x="12636500" y="3721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0" y="2"/>
                </a:moveTo>
                <a:lnTo>
                  <a:pt x="5" y="4"/>
                </a:lnTo>
                <a:lnTo>
                  <a:pt x="5" y="0"/>
                </a:lnTo>
                <a:close/>
              </a:path>
            </a:pathLst>
          </a:cu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9525000" y="10160000"/>
            <a:ext cx="0" cy="254000"/>
          </a:xfrm>
          <a:prstGeom prst="line">
            <a:avLst/>
          </a:prstGeom>
          <a:ln w="15240">
            <a:solidFill>
              <a:srgbClr val="2785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Freeform 126"/>
          <p:cNvSpPr/>
          <p:nvPr/>
        </p:nvSpPr>
        <p:spPr>
          <a:xfrm>
            <a:off x="9499600" y="10363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6413500" y="10414000"/>
            <a:ext cx="6223000" cy="355600"/>
          </a:xfrm>
          <a:prstGeom prst="roundRect">
            <a:avLst>
              <a:gd name="adj" fmla="val 14285"/>
            </a:avLst>
          </a:prstGeom>
          <a:solidFill>
            <a:srgbClr val="E9F6EF"/>
          </a:solidFill>
          <a:ln w="8890">
            <a:solidFill>
              <a:srgbClr val="278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447359" y="10502900"/>
            <a:ext cx="4206081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Objective</a:t>
            </a:r>
            <a:r>
              <a:rPr sz="120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met</a:t>
            </a:r>
            <a:r>
              <a:rPr sz="120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/</a:t>
            </a:r>
            <a:r>
              <a:rPr sz="120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budget</a:t>
            </a:r>
            <a:r>
              <a:rPr sz="120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reached</a:t>
            </a:r>
            <a:r>
              <a:rPr sz="120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→</a:t>
            </a:r>
            <a:r>
              <a:rPr sz="120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archive</a:t>
            </a:r>
            <a:r>
              <a:rPr sz="120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+</a:t>
            </a:r>
            <a:r>
              <a:rPr sz="120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close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3462000" y="1905000"/>
            <a:ext cx="5207000" cy="4191000"/>
          </a:xfrm>
          <a:prstGeom prst="roundRect">
            <a:avLst>
              <a:gd name="adj" fmla="val 2121"/>
            </a:avLst>
          </a:prstGeom>
          <a:solidFill>
            <a:srgbClr val="FFF4DE"/>
          </a:solidFill>
          <a:ln w="11430">
            <a:solidFill>
              <a:srgbClr val="BC7D1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3601700" y="2038350"/>
            <a:ext cx="3562263" cy="248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C7D1D"/>
                </a:solidFill>
                <a:latin typeface="Arial"/>
                <a:ea typeface="Microsoft YaHei"/>
              </a:rPr>
              <a:t>PLANNED</a:t>
            </a:r>
            <a:r>
              <a:rPr sz="14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400" b="1">
                <a:solidFill>
                  <a:srgbClr val="BC7D1D"/>
                </a:solidFill>
                <a:latin typeface="Arial"/>
                <a:ea typeface="Microsoft YaHei"/>
              </a:rPr>
              <a:t>•</a:t>
            </a:r>
            <a:r>
              <a:rPr sz="14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400" b="1">
                <a:solidFill>
                  <a:srgbClr val="BC7D1D"/>
                </a:solidFill>
                <a:latin typeface="Arial"/>
                <a:ea typeface="Microsoft YaHei"/>
              </a:rPr>
              <a:t>SERVER-LOCAL</a:t>
            </a:r>
            <a:r>
              <a:rPr sz="14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400" b="1">
                <a:solidFill>
                  <a:srgbClr val="BC7D1D"/>
                </a:solidFill>
                <a:latin typeface="Arial"/>
                <a:ea typeface="Microsoft YaHei"/>
              </a:rPr>
              <a:t>THEORY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3601700" y="2374900"/>
            <a:ext cx="3364991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C7D1D"/>
                </a:solidFill>
                <a:latin typeface="Arial"/>
                <a:ea typeface="Microsoft YaHei"/>
              </a:rPr>
              <a:t>Theory</a:t>
            </a:r>
            <a:r>
              <a:rPr sz="1100" b="0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BC7D1D"/>
                </a:solidFill>
                <a:latin typeface="Arial"/>
                <a:ea typeface="Microsoft YaHei"/>
              </a:rPr>
              <a:t>MCP</a:t>
            </a:r>
            <a:r>
              <a:rPr sz="1100" b="0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BC7D1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BC7D1D"/>
                </a:solidFill>
                <a:latin typeface="Arial"/>
                <a:ea typeface="Microsoft YaHei"/>
              </a:rPr>
              <a:t>numerical</a:t>
            </a:r>
            <a:r>
              <a:rPr sz="1100" b="0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BC7D1D"/>
                </a:solidFill>
                <a:latin typeface="Arial"/>
                <a:ea typeface="Microsoft YaHei"/>
              </a:rPr>
              <a:t>jobs</a:t>
            </a:r>
            <a:r>
              <a:rPr sz="1100" b="0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BC7D1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BC7D1D"/>
                </a:solidFill>
                <a:latin typeface="Arial"/>
                <a:ea typeface="Microsoft YaHei"/>
              </a:rPr>
              <a:t>versioned</a:t>
            </a:r>
            <a:r>
              <a:rPr sz="1100" b="0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BC7D1D"/>
                </a:solidFill>
                <a:latin typeface="Arial"/>
                <a:ea typeface="Microsoft YaHei"/>
              </a:rPr>
              <a:t>models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3608050" y="2762250"/>
            <a:ext cx="49149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0795">
            <a:solidFill>
              <a:srgbClr val="BC7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3747750" y="2863850"/>
            <a:ext cx="3057593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Receive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a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qualified-data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snapshot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747750" y="3181350"/>
            <a:ext cx="2810755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X/Y,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I,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f,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T/B/Vg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calibration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snapshot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IDs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16065500" y="3409950"/>
            <a:ext cx="0" cy="139700"/>
          </a:xfrm>
          <a:prstGeom prst="line">
            <a:avLst/>
          </a:prstGeom>
          <a:ln w="10795">
            <a:solidFill>
              <a:srgbClr val="BC7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Freeform 136"/>
          <p:cNvSpPr/>
          <p:nvPr/>
        </p:nvSpPr>
        <p:spPr>
          <a:xfrm>
            <a:off x="16040100" y="3505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3608050" y="3549650"/>
            <a:ext cx="49149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0795">
            <a:solidFill>
              <a:srgbClr val="BC7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3747750" y="3651250"/>
            <a:ext cx="3167431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Run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models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+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estimate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uncertainty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747750" y="3968750"/>
            <a:ext cx="3165648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Transport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circuit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thermal-response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hypotheses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6065500" y="4197350"/>
            <a:ext cx="0" cy="139700"/>
          </a:xfrm>
          <a:prstGeom prst="line">
            <a:avLst/>
          </a:prstGeom>
          <a:ln w="10795">
            <a:solidFill>
              <a:srgbClr val="BC7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Freeform 141"/>
          <p:cNvSpPr/>
          <p:nvPr/>
        </p:nvSpPr>
        <p:spPr>
          <a:xfrm>
            <a:off x="16040100" y="4292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3608050" y="4337050"/>
            <a:ext cx="49149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0795">
            <a:solidFill>
              <a:srgbClr val="BC7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3747750" y="4438650"/>
            <a:ext cx="3397805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Compare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predictions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with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experiment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747750" y="4756150"/>
            <a:ext cx="3429136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Residuals,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validity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range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and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competing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explanations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6065500" y="4984750"/>
            <a:ext cx="0" cy="139700"/>
          </a:xfrm>
          <a:prstGeom prst="line">
            <a:avLst/>
          </a:prstGeom>
          <a:ln w="10795">
            <a:solidFill>
              <a:srgbClr val="BC7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Freeform 146"/>
          <p:cNvSpPr/>
          <p:nvPr/>
        </p:nvSpPr>
        <p:spPr>
          <a:xfrm>
            <a:off x="16040100" y="5080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13608050" y="5124450"/>
            <a:ext cx="49149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0795">
            <a:solidFill>
              <a:srgbClr val="BC7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3747750" y="5226050"/>
            <a:ext cx="3390363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Rank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informative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next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measurements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3747750" y="5543550"/>
            <a:ext cx="3415307" cy="177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Model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discrimination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uncertainty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time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0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000" b="0">
                <a:solidFill>
                  <a:srgbClr val="23364D"/>
                </a:solidFill>
                <a:latin typeface="Arial"/>
                <a:ea typeface="Microsoft YaHei"/>
              </a:rPr>
              <a:t>constraints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2636500" y="8115300"/>
            <a:ext cx="635000" cy="0"/>
          </a:xfrm>
          <a:prstGeom prst="line">
            <a:avLst/>
          </a:prstGeom>
          <a:ln w="13335">
            <a:solidFill>
              <a:srgbClr val="7653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3271500" y="2927350"/>
            <a:ext cx="0" cy="5187950"/>
          </a:xfrm>
          <a:prstGeom prst="line">
            <a:avLst/>
          </a:prstGeom>
          <a:ln w="13335">
            <a:solidFill>
              <a:srgbClr val="7653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3271500" y="2927350"/>
            <a:ext cx="336550" cy="0"/>
          </a:xfrm>
          <a:prstGeom prst="line">
            <a:avLst/>
          </a:prstGeom>
          <a:ln w="13335">
            <a:solidFill>
              <a:srgbClr val="7653C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Freeform 153"/>
          <p:cNvSpPr/>
          <p:nvPr/>
        </p:nvSpPr>
        <p:spPr>
          <a:xfrm>
            <a:off x="13550900" y="28956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5" y="2"/>
                </a:move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765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 flipH="1">
            <a:off x="13112750" y="5499100"/>
            <a:ext cx="495300" cy="0"/>
          </a:xfrm>
          <a:prstGeom prst="line">
            <a:avLst/>
          </a:prstGeom>
          <a:ln w="13335">
            <a:solidFill>
              <a:srgbClr val="2785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3112750" y="5499100"/>
            <a:ext cx="0" cy="2978150"/>
          </a:xfrm>
          <a:prstGeom prst="line">
            <a:avLst/>
          </a:prstGeom>
          <a:ln w="13335">
            <a:solidFill>
              <a:srgbClr val="2785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12636500" y="8477250"/>
            <a:ext cx="476250" cy="0"/>
          </a:xfrm>
          <a:prstGeom prst="line">
            <a:avLst/>
          </a:prstGeom>
          <a:ln w="13335">
            <a:solidFill>
              <a:srgbClr val="27856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Freeform 157"/>
          <p:cNvSpPr/>
          <p:nvPr/>
        </p:nvSpPr>
        <p:spPr>
          <a:xfrm>
            <a:off x="12636500" y="8445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0" y="3"/>
                </a:moveTo>
                <a:lnTo>
                  <a:pt x="5" y="5"/>
                </a:lnTo>
                <a:lnTo>
                  <a:pt x="5" y="0"/>
                </a:lnTo>
                <a:close/>
              </a:path>
            </a:pathLst>
          </a:custGeom>
          <a:solidFill>
            <a:srgbClr val="278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3462000" y="6604000"/>
            <a:ext cx="5207000" cy="3556000"/>
          </a:xfrm>
          <a:prstGeom prst="roundRect">
            <a:avLst>
              <a:gd name="adj" fmla="val 2678"/>
            </a:avLst>
          </a:prstGeom>
          <a:solidFill>
            <a:srgbClr val="EDF3FC"/>
          </a:solidFill>
          <a:ln w="11430">
            <a:solidFill>
              <a:srgbClr val="3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3601700" y="6718300"/>
            <a:ext cx="3168222" cy="257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3B6CB0"/>
                </a:solidFill>
                <a:latin typeface="Arial"/>
                <a:ea typeface="Microsoft YaHei"/>
              </a:rPr>
              <a:t>What</a:t>
            </a:r>
            <a:r>
              <a:rPr sz="14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3B6CB0"/>
                </a:solidFill>
                <a:latin typeface="Arial"/>
                <a:ea typeface="Microsoft YaHei"/>
              </a:rPr>
              <a:t>changes</a:t>
            </a:r>
            <a:r>
              <a:rPr sz="14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3B6CB0"/>
                </a:solidFill>
                <a:latin typeface="Arial"/>
                <a:ea typeface="Microsoft YaHei"/>
              </a:rPr>
              <a:t>after</a:t>
            </a:r>
            <a:r>
              <a:rPr sz="14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450" b="1">
                <a:solidFill>
                  <a:srgbClr val="3B6CB0"/>
                </a:solidFill>
                <a:latin typeface="Arial"/>
                <a:ea typeface="Microsoft YaHei"/>
              </a:rPr>
              <a:t>feedback?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3608050" y="7067550"/>
            <a:ext cx="4914900" cy="552450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6350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3709650" y="7124700"/>
            <a:ext cx="1426641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Noisy</a:t>
            </a:r>
            <a:r>
              <a:rPr sz="120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but</a:t>
            </a:r>
            <a:r>
              <a:rPr sz="1200" b="1">
                <a:solidFill>
                  <a:srgbClr val="278565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278565"/>
                </a:solidFill>
                <a:latin typeface="Arial"/>
                <a:ea typeface="Microsoft YaHei"/>
              </a:rPr>
              <a:t>stable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3709650" y="7372350"/>
            <a:ext cx="2524949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Longer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averaging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suitable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filtering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3608050" y="7708900"/>
            <a:ext cx="4914900" cy="552450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6350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3709650" y="7766050"/>
            <a:ext cx="2206947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C7D1D"/>
                </a:solidFill>
                <a:latin typeface="Arial"/>
                <a:ea typeface="Microsoft YaHei"/>
              </a:rPr>
              <a:t>Overload</a:t>
            </a:r>
            <a:r>
              <a:rPr sz="12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BC7D1D"/>
                </a:solidFill>
                <a:latin typeface="Arial"/>
                <a:ea typeface="Microsoft YaHei"/>
              </a:rPr>
              <a:t>/</a:t>
            </a:r>
            <a:r>
              <a:rPr sz="12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BC7D1D"/>
                </a:solidFill>
                <a:latin typeface="Arial"/>
                <a:ea typeface="Microsoft YaHei"/>
              </a:rPr>
              <a:t>reference</a:t>
            </a:r>
            <a:r>
              <a:rPr sz="120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BC7D1D"/>
                </a:solidFill>
                <a:latin typeface="Arial"/>
                <a:ea typeface="Microsoft YaHei"/>
              </a:rPr>
              <a:t>drift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3709650" y="8013700"/>
            <a:ext cx="2551211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Correct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range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reference;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reacquire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3608050" y="8350250"/>
            <a:ext cx="4914900" cy="552450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6350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3709650" y="8407400"/>
            <a:ext cx="2655143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653CF"/>
                </a:solidFill>
                <a:latin typeface="Arial"/>
                <a:ea typeface="Microsoft YaHei"/>
              </a:rPr>
              <a:t>Nonlinearity</a:t>
            </a:r>
            <a:r>
              <a:rPr sz="120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7653CF"/>
                </a:solidFill>
                <a:latin typeface="Arial"/>
                <a:ea typeface="Microsoft YaHei"/>
              </a:rPr>
              <a:t>/</a:t>
            </a:r>
            <a:r>
              <a:rPr sz="120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7653CF"/>
                </a:solidFill>
                <a:latin typeface="Arial"/>
                <a:ea typeface="Microsoft YaHei"/>
              </a:rPr>
              <a:t>possible</a:t>
            </a:r>
            <a:r>
              <a:rPr sz="120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7653CF"/>
                </a:solidFill>
                <a:latin typeface="Arial"/>
                <a:ea typeface="Microsoft YaHei"/>
              </a:rPr>
              <a:t>heating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709650" y="8655050"/>
            <a:ext cx="3098279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Lower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drive;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add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frequency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return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controls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3608050" y="8991600"/>
            <a:ext cx="4914900" cy="552450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6350">
            <a:solidFill>
              <a:srgbClr val="D9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3709650" y="9048750"/>
            <a:ext cx="2321991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94C61"/>
                </a:solidFill>
                <a:latin typeface="Arial"/>
                <a:ea typeface="Microsoft YaHei"/>
              </a:rPr>
              <a:t>Fault</a:t>
            </a:r>
            <a:r>
              <a:rPr sz="1200" b="1">
                <a:solidFill>
                  <a:srgbClr val="B94C61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B94C61"/>
                </a:solidFill>
                <a:latin typeface="Arial"/>
                <a:ea typeface="Microsoft YaHei"/>
              </a:rPr>
              <a:t>/</a:t>
            </a:r>
            <a:r>
              <a:rPr sz="1200" b="1">
                <a:solidFill>
                  <a:srgbClr val="B94C61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B94C61"/>
                </a:solidFill>
                <a:latin typeface="Arial"/>
                <a:ea typeface="Microsoft YaHei"/>
              </a:rPr>
              <a:t>uncertain</a:t>
            </a:r>
            <a:r>
              <a:rPr sz="1200" b="1">
                <a:solidFill>
                  <a:srgbClr val="B94C61"/>
                </a:solidFill>
                <a:latin typeface="Microsoft YaHei"/>
                <a:ea typeface="Microsoft YaHei"/>
              </a:rPr>
              <a:t> </a:t>
            </a:r>
            <a:r>
              <a:rPr sz="1200" b="1">
                <a:solidFill>
                  <a:srgbClr val="B94C61"/>
                </a:solidFill>
                <a:latin typeface="Arial"/>
                <a:ea typeface="Microsoft YaHei"/>
              </a:rPr>
              <a:t>command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3709650" y="9296400"/>
            <a:ext cx="3083817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Pause,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local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closure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and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state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reconciliation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3608050" y="9715500"/>
            <a:ext cx="3772489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Every</a:t>
            </a:r>
            <a:r>
              <a:rPr sz="10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revision</a:t>
            </a:r>
            <a:r>
              <a:rPr sz="10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preserves</a:t>
            </a:r>
            <a:r>
              <a:rPr sz="10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raw</a:t>
            </a:r>
            <a:r>
              <a:rPr sz="10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evidence</a:t>
            </a:r>
            <a:r>
              <a:rPr sz="10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and</a:t>
            </a:r>
            <a:r>
              <a:rPr sz="10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passes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3608050" y="9882187"/>
            <a:ext cx="2924531" cy="1866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through</a:t>
            </a:r>
            <a:r>
              <a:rPr sz="10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the</a:t>
            </a:r>
            <a:r>
              <a:rPr sz="10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same</a:t>
            </a:r>
            <a:r>
              <a:rPr sz="10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execution</a:t>
            </a:r>
            <a:r>
              <a:rPr sz="1050" b="1">
                <a:solidFill>
                  <a:srgbClr val="3B6CB0"/>
                </a:solidFill>
                <a:latin typeface="Microsoft YaHei"/>
                <a:ea typeface="Microsoft YaHei"/>
              </a:rPr>
              <a:t> </a:t>
            </a:r>
            <a:r>
              <a:rPr sz="1050" b="1">
                <a:solidFill>
                  <a:srgbClr val="3B6CB0"/>
                </a:solidFill>
                <a:latin typeface="Arial"/>
                <a:ea typeface="Microsoft YaHei"/>
              </a:rPr>
              <a:t>authority.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381000" y="11049000"/>
            <a:ext cx="5842000" cy="908050"/>
          </a:xfrm>
          <a:prstGeom prst="roundRect">
            <a:avLst>
              <a:gd name="adj" fmla="val 8391"/>
            </a:avLst>
          </a:prstGeom>
          <a:solidFill>
            <a:srgbClr val="E9F6F7"/>
          </a:solidFill>
          <a:ln w="10795">
            <a:solidFill>
              <a:srgbClr val="16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20700" y="11150600"/>
            <a:ext cx="1959365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8D9D"/>
                </a:solidFill>
                <a:latin typeface="Arial"/>
                <a:ea typeface="Microsoft YaHei"/>
              </a:rPr>
              <a:t>LOCAL</a:t>
            </a:r>
            <a:r>
              <a:rPr sz="12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168D9D"/>
                </a:solidFill>
                <a:latin typeface="Arial"/>
                <a:ea typeface="Microsoft YaHei"/>
              </a:rPr>
              <a:t>DEVICE</a:t>
            </a:r>
            <a:r>
              <a:rPr sz="1250" b="1">
                <a:solidFill>
                  <a:srgbClr val="168D9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168D9D"/>
                </a:solidFill>
                <a:latin typeface="Arial"/>
                <a:ea typeface="Microsoft YaHei"/>
              </a:rPr>
              <a:t>LOOPS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20700" y="11468100"/>
            <a:ext cx="2903599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Reference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readout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/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local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fault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response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20700" y="11642725"/>
            <a:ext cx="2337978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No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LLM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in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the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timing-critical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path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604000" y="11049000"/>
            <a:ext cx="5842000" cy="908050"/>
          </a:xfrm>
          <a:prstGeom prst="roundRect">
            <a:avLst>
              <a:gd name="adj" fmla="val 8391"/>
            </a:avLst>
          </a:prstGeom>
          <a:solidFill>
            <a:srgbClr val="F1ECFC"/>
          </a:solidFill>
          <a:ln w="10795">
            <a:solidFill>
              <a:srgbClr val="765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743700" y="11150600"/>
            <a:ext cx="3213475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653CF"/>
                </a:solidFill>
                <a:latin typeface="Arial"/>
                <a:ea typeface="Microsoft YaHei"/>
              </a:rPr>
              <a:t>CENTRAL</a:t>
            </a:r>
            <a:r>
              <a:rPr sz="12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7653CF"/>
                </a:solidFill>
                <a:latin typeface="Arial"/>
                <a:ea typeface="Microsoft YaHei"/>
              </a:rPr>
              <a:t>POINT</a:t>
            </a:r>
            <a:r>
              <a:rPr sz="12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7653CF"/>
                </a:solidFill>
                <a:latin typeface="Arial"/>
                <a:ea typeface="Microsoft YaHei"/>
              </a:rPr>
              <a:t>/</a:t>
            </a:r>
            <a:r>
              <a:rPr sz="12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7653CF"/>
                </a:solidFill>
                <a:latin typeface="Arial"/>
                <a:ea typeface="Microsoft YaHei"/>
              </a:rPr>
              <a:t>CHUNK</a:t>
            </a:r>
            <a:r>
              <a:rPr sz="1250" b="1">
                <a:solidFill>
                  <a:srgbClr val="7653CF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7653CF"/>
                </a:solidFill>
                <a:latin typeface="Arial"/>
                <a:ea typeface="Microsoft YaHei"/>
              </a:rPr>
              <a:t>FEEDBACK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743700" y="11468100"/>
            <a:ext cx="3222221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Event-driven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QC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and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bounded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stage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revisions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743700" y="11642725"/>
            <a:ext cx="3013217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Dashboard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follows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state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and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qualified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data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2827000" y="11049000"/>
            <a:ext cx="5842000" cy="908050"/>
          </a:xfrm>
          <a:prstGeom prst="roundRect">
            <a:avLst>
              <a:gd name="adj" fmla="val 8391"/>
            </a:avLst>
          </a:prstGeom>
          <a:solidFill>
            <a:srgbClr val="FFF4DE"/>
          </a:solidFill>
          <a:ln w="10795">
            <a:solidFill>
              <a:srgbClr val="BC7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2966700" y="11150600"/>
            <a:ext cx="3204560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PLANNED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ASYNCHRONOUS</a:t>
            </a:r>
            <a:r>
              <a:rPr sz="1250" b="1">
                <a:solidFill>
                  <a:srgbClr val="BC7D1D"/>
                </a:solidFill>
                <a:latin typeface="Microsoft YaHei"/>
                <a:ea typeface="Microsoft YaHei"/>
              </a:rPr>
              <a:t> </a:t>
            </a:r>
            <a:r>
              <a:rPr sz="1250" b="1">
                <a:solidFill>
                  <a:srgbClr val="BC7D1D"/>
                </a:solidFill>
                <a:latin typeface="Arial"/>
                <a:ea typeface="Microsoft YaHei"/>
              </a:rPr>
              <a:t>THEORY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2966700" y="11468100"/>
            <a:ext cx="3558033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Compute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budget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uncertainty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+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snapshot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checks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2966700" y="11642725"/>
            <a:ext cx="3107351" cy="195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A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local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LLM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is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not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a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numerical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physics</a:t>
            </a:r>
            <a:r>
              <a:rPr sz="1100" b="0">
                <a:solidFill>
                  <a:srgbClr val="23364D"/>
                </a:solidFill>
                <a:latin typeface="Microsoft YaHei"/>
                <a:ea typeface="Microsoft YaHei"/>
              </a:rPr>
              <a:t> </a:t>
            </a:r>
            <a:r>
              <a:rPr sz="1100" b="0">
                <a:solidFill>
                  <a:srgbClr val="23364D"/>
                </a:solidFill>
                <a:latin typeface="Arial"/>
                <a:ea typeface="Microsoft YaHei"/>
              </a:rPr>
              <a:t>solver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81000" y="12192000"/>
            <a:ext cx="9656939" cy="204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Transport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workflow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design;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the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theory/compute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coupling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is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planned.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No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measured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curves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or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material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mechanism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claims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are</a:t>
            </a:r>
            <a:r>
              <a:rPr sz="1150" b="0">
                <a:solidFill>
                  <a:srgbClr val="62758C"/>
                </a:solidFill>
                <a:latin typeface="Microsoft YaHei"/>
                <a:ea typeface="Microsoft YaHei"/>
              </a:rPr>
              <a:t> </a:t>
            </a:r>
            <a:r>
              <a:rPr sz="1150" b="0">
                <a:solidFill>
                  <a:srgbClr val="62758C"/>
                </a:solidFill>
                <a:latin typeface="Arial"/>
                <a:ea typeface="Microsoft YaHei"/>
              </a:rPr>
              <a:t>implied.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LabOS Transport: Calibration, Feedback and Physics-Guided Planning</dc:title>
  <dc:subject>Communication, autonomous calibration, feedback and planned physics guidance</dc:subject>
  <dc:creator>LabOS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